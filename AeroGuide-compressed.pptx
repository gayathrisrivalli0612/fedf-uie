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429000" y="0"/>
            <a:ext cx="5715000" cy="5143500"/>
          </a:xfrm>
          <a:custGeom>
            <a:avLst/>
            <a:gdLst/>
            <a:ahLst/>
            <a:cxnLst/>
            <a:rect l="l" t="t" r="r" b="b"/>
            <a:pathLst>
              <a:path w="5715000" h="5143500">
                <a:moveTo>
                  <a:pt x="0" y="5143500"/>
                </a:moveTo>
                <a:lnTo>
                  <a:pt x="5715000" y="5143500"/>
                </a:lnTo>
                <a:lnTo>
                  <a:pt x="5715000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solidFill>
            <a:srgbClr val="F8F8FF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925112" y="1742185"/>
            <a:ext cx="1397000" cy="266700"/>
          </a:xfrm>
          <a:custGeom>
            <a:avLst/>
            <a:gdLst/>
            <a:ahLst/>
            <a:cxnLst/>
            <a:rect l="l" t="t" r="r" b="b"/>
            <a:pathLst>
              <a:path w="1397000" h="266700">
                <a:moveTo>
                  <a:pt x="1348816" y="0"/>
                </a:moveTo>
                <a:lnTo>
                  <a:pt x="47632" y="0"/>
                </a:lnTo>
                <a:lnTo>
                  <a:pt x="29166" y="3767"/>
                </a:lnTo>
                <a:lnTo>
                  <a:pt x="14017" y="14017"/>
                </a:lnTo>
                <a:lnTo>
                  <a:pt x="3767" y="29167"/>
                </a:lnTo>
                <a:lnTo>
                  <a:pt x="0" y="47637"/>
                </a:lnTo>
                <a:lnTo>
                  <a:pt x="0" y="218770"/>
                </a:lnTo>
                <a:lnTo>
                  <a:pt x="3767" y="237234"/>
                </a:lnTo>
                <a:lnTo>
                  <a:pt x="14017" y="252385"/>
                </a:lnTo>
                <a:lnTo>
                  <a:pt x="29166" y="262638"/>
                </a:lnTo>
                <a:lnTo>
                  <a:pt x="47632" y="266407"/>
                </a:lnTo>
                <a:lnTo>
                  <a:pt x="1348816" y="266407"/>
                </a:lnTo>
                <a:lnTo>
                  <a:pt x="1367285" y="262638"/>
                </a:lnTo>
                <a:lnTo>
                  <a:pt x="1382436" y="252385"/>
                </a:lnTo>
                <a:lnTo>
                  <a:pt x="1392685" y="237234"/>
                </a:lnTo>
                <a:lnTo>
                  <a:pt x="1396453" y="218770"/>
                </a:lnTo>
                <a:lnTo>
                  <a:pt x="1396453" y="47637"/>
                </a:lnTo>
                <a:lnTo>
                  <a:pt x="1392685" y="29167"/>
                </a:lnTo>
                <a:lnTo>
                  <a:pt x="1382436" y="14017"/>
                </a:lnTo>
                <a:lnTo>
                  <a:pt x="1367285" y="3767"/>
                </a:lnTo>
                <a:lnTo>
                  <a:pt x="1348816" y="0"/>
                </a:lnTo>
                <a:close/>
              </a:path>
            </a:pathLst>
          </a:custGeom>
          <a:solidFill>
            <a:srgbClr val="D2D9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12412" y="2045195"/>
            <a:ext cx="1694179" cy="44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1B1B2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912412" y="2649893"/>
            <a:ext cx="4643120" cy="694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40415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1B1B2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0415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1B1B2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1B1B2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8F8FF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0201" y="698284"/>
            <a:ext cx="5317490" cy="429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1B1B2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8139" y="1132910"/>
            <a:ext cx="4763135" cy="2519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40415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997477" y="1769681"/>
            <a:ext cx="12192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PROPOSED</a:t>
            </a:r>
            <a:r>
              <a:rPr dirty="0" sz="85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SOLUTION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-10"/>
              <a:t>AeroGuide</a:t>
            </a:r>
            <a:endParaRPr sz="2750"/>
          </a:p>
        </p:txBody>
      </p:sp>
      <p:sp>
        <p:nvSpPr>
          <p:cNvPr id="4" name="object 4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dirty="0" sz="1100"/>
              <a:t>An</a:t>
            </a:r>
            <a:r>
              <a:rPr dirty="0" sz="1100" spc="-25"/>
              <a:t> </a:t>
            </a:r>
            <a:r>
              <a:rPr dirty="0" sz="1100" spc="-10"/>
              <a:t>AI-</a:t>
            </a:r>
            <a:r>
              <a:rPr dirty="0" sz="1100"/>
              <a:t>powered</a:t>
            </a:r>
            <a:r>
              <a:rPr dirty="0" sz="1100" spc="-20"/>
              <a:t> </a:t>
            </a:r>
            <a:r>
              <a:rPr dirty="0" sz="1100"/>
              <a:t>airport</a:t>
            </a:r>
            <a:r>
              <a:rPr dirty="0" sz="1100" spc="-20"/>
              <a:t> </a:t>
            </a:r>
            <a:r>
              <a:rPr dirty="0" sz="1100" spc="-10"/>
              <a:t>assistance</a:t>
            </a:r>
            <a:r>
              <a:rPr dirty="0" sz="1100" spc="-25"/>
              <a:t> </a:t>
            </a:r>
            <a:r>
              <a:rPr dirty="0" sz="1100"/>
              <a:t>platform</a:t>
            </a:r>
            <a:r>
              <a:rPr dirty="0" sz="1100" spc="-20"/>
              <a:t> </a:t>
            </a:r>
            <a:r>
              <a:rPr dirty="0" sz="1100"/>
              <a:t>that</a:t>
            </a:r>
            <a:r>
              <a:rPr dirty="0" sz="1100" spc="-20"/>
              <a:t> </a:t>
            </a:r>
            <a:r>
              <a:rPr dirty="0" sz="1100"/>
              <a:t>unifies</a:t>
            </a:r>
            <a:r>
              <a:rPr dirty="0" sz="1100" spc="-25"/>
              <a:t> </a:t>
            </a:r>
            <a:r>
              <a:rPr dirty="0" sz="1100"/>
              <a:t>flight</a:t>
            </a:r>
            <a:r>
              <a:rPr dirty="0" sz="1100" spc="-20"/>
              <a:t> </a:t>
            </a:r>
            <a:r>
              <a:rPr dirty="0" sz="1100"/>
              <a:t>tracking,</a:t>
            </a:r>
            <a:r>
              <a:rPr dirty="0" sz="1100" spc="-20"/>
              <a:t> </a:t>
            </a:r>
            <a:r>
              <a:rPr dirty="0" sz="1100" spc="-10"/>
              <a:t>smart </a:t>
            </a:r>
            <a:r>
              <a:rPr dirty="0" sz="1100"/>
              <a:t>indoor</a:t>
            </a:r>
            <a:r>
              <a:rPr dirty="0" sz="1100" spc="-40"/>
              <a:t> </a:t>
            </a:r>
            <a:r>
              <a:rPr dirty="0" sz="1100" spc="-10"/>
              <a:t>navigation,</a:t>
            </a:r>
            <a:r>
              <a:rPr dirty="0" sz="1100" spc="-40"/>
              <a:t> </a:t>
            </a:r>
            <a:r>
              <a:rPr dirty="0" sz="1100"/>
              <a:t>crowd</a:t>
            </a:r>
            <a:r>
              <a:rPr dirty="0" sz="1100" spc="-40"/>
              <a:t> </a:t>
            </a:r>
            <a:r>
              <a:rPr dirty="0" sz="1100"/>
              <a:t>monitoring,</a:t>
            </a:r>
            <a:r>
              <a:rPr dirty="0" sz="1100" spc="-40"/>
              <a:t> </a:t>
            </a:r>
            <a:r>
              <a:rPr dirty="0" sz="1100"/>
              <a:t>and</a:t>
            </a:r>
            <a:r>
              <a:rPr dirty="0" sz="1100" spc="-35"/>
              <a:t> </a:t>
            </a:r>
            <a:r>
              <a:rPr dirty="0" sz="1100" spc="-10"/>
              <a:t>voice-</a:t>
            </a:r>
            <a:r>
              <a:rPr dirty="0" sz="1100"/>
              <a:t>enabled</a:t>
            </a:r>
            <a:r>
              <a:rPr dirty="0" sz="1100" spc="-40"/>
              <a:t> </a:t>
            </a:r>
            <a:r>
              <a:rPr dirty="0" sz="1100"/>
              <a:t>passenger</a:t>
            </a:r>
            <a:r>
              <a:rPr dirty="0" sz="1100" spc="-40"/>
              <a:t> </a:t>
            </a:r>
            <a:r>
              <a:rPr dirty="0" sz="1100" spc="-10"/>
              <a:t>support</a:t>
            </a:r>
            <a:endParaRPr sz="1100"/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/>
              <a:t>—</a:t>
            </a:r>
            <a:r>
              <a:rPr dirty="0" sz="1100" spc="-25"/>
              <a:t> </a:t>
            </a:r>
            <a:r>
              <a:rPr dirty="0" sz="1100"/>
              <a:t>all</a:t>
            </a:r>
            <a:r>
              <a:rPr dirty="0" sz="1100" spc="-20"/>
              <a:t> </a:t>
            </a:r>
            <a:r>
              <a:rPr dirty="0" sz="1100"/>
              <a:t>within</a:t>
            </a:r>
            <a:r>
              <a:rPr dirty="0" sz="1100" spc="-25"/>
              <a:t> </a:t>
            </a:r>
            <a:r>
              <a:rPr dirty="0" sz="1100"/>
              <a:t>a</a:t>
            </a:r>
            <a:r>
              <a:rPr dirty="0" sz="1100" spc="-20"/>
              <a:t> </a:t>
            </a:r>
            <a:r>
              <a:rPr dirty="0" sz="1100"/>
              <a:t>single</a:t>
            </a:r>
            <a:r>
              <a:rPr dirty="0" sz="1100" spc="-25"/>
              <a:t> </a:t>
            </a:r>
            <a:r>
              <a:rPr dirty="0" sz="1100" spc="-10"/>
              <a:t>intelligent</a:t>
            </a:r>
            <a:r>
              <a:rPr dirty="0" sz="1100" spc="-20"/>
              <a:t> </a:t>
            </a:r>
            <a:r>
              <a:rPr dirty="0" sz="1100" spc="-10"/>
              <a:t>dashboard.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80182" y="309265"/>
            <a:ext cx="763270" cy="187960"/>
          </a:xfrm>
          <a:custGeom>
            <a:avLst/>
            <a:gdLst/>
            <a:ahLst/>
            <a:cxnLst/>
            <a:rect l="l" t="t" r="r" b="b"/>
            <a:pathLst>
              <a:path w="763269" h="187959">
                <a:moveTo>
                  <a:pt x="0" y="34975"/>
                </a:moveTo>
                <a:lnTo>
                  <a:pt x="2767" y="21415"/>
                </a:lnTo>
                <a:lnTo>
                  <a:pt x="10294" y="10291"/>
                </a:lnTo>
                <a:lnTo>
                  <a:pt x="21419" y="2766"/>
                </a:lnTo>
                <a:lnTo>
                  <a:pt x="34980" y="0"/>
                </a:lnTo>
                <a:lnTo>
                  <a:pt x="728135" y="0"/>
                </a:lnTo>
                <a:lnTo>
                  <a:pt x="741696" y="2766"/>
                </a:lnTo>
                <a:lnTo>
                  <a:pt x="752822" y="10291"/>
                </a:lnTo>
                <a:lnTo>
                  <a:pt x="760349" y="21415"/>
                </a:lnTo>
                <a:lnTo>
                  <a:pt x="763116" y="34975"/>
                </a:lnTo>
                <a:lnTo>
                  <a:pt x="763116" y="152387"/>
                </a:lnTo>
                <a:lnTo>
                  <a:pt x="760349" y="165955"/>
                </a:lnTo>
                <a:lnTo>
                  <a:pt x="752822" y="177082"/>
                </a:lnTo>
                <a:lnTo>
                  <a:pt x="741696" y="184609"/>
                </a:lnTo>
                <a:lnTo>
                  <a:pt x="728135" y="187375"/>
                </a:lnTo>
                <a:lnTo>
                  <a:pt x="34980" y="187375"/>
                </a:lnTo>
                <a:lnTo>
                  <a:pt x="21419" y="184609"/>
                </a:lnTo>
                <a:lnTo>
                  <a:pt x="10294" y="177082"/>
                </a:lnTo>
                <a:lnTo>
                  <a:pt x="2767" y="165955"/>
                </a:lnTo>
                <a:lnTo>
                  <a:pt x="0" y="152387"/>
                </a:lnTo>
                <a:lnTo>
                  <a:pt x="0" y="34975"/>
                </a:lnTo>
                <a:close/>
              </a:path>
            </a:pathLst>
          </a:custGeom>
          <a:ln w="4762">
            <a:solidFill>
              <a:srgbClr val="4867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34677" y="330766"/>
            <a:ext cx="67119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0">
                <a:solidFill>
                  <a:srgbClr val="4867E9"/>
                </a:solidFill>
                <a:latin typeface="Arial"/>
                <a:cs typeface="Arial"/>
              </a:rPr>
              <a:t>ARCHITECTURE</a:t>
            </a:r>
            <a:endParaRPr sz="6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67482" y="509077"/>
            <a:ext cx="2296795" cy="330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/>
              <a:t>System</a:t>
            </a:r>
            <a:r>
              <a:rPr dirty="0" sz="2000" spc="-25"/>
              <a:t> </a:t>
            </a:r>
            <a:r>
              <a:rPr dirty="0" sz="2000" spc="-10"/>
              <a:t>Architecture</a:t>
            </a:r>
            <a:endParaRPr sz="2000"/>
          </a:p>
        </p:txBody>
      </p:sp>
      <p:sp>
        <p:nvSpPr>
          <p:cNvPr id="5" name="object 5" descr=""/>
          <p:cNvSpPr txBox="1"/>
          <p:nvPr/>
        </p:nvSpPr>
        <p:spPr>
          <a:xfrm>
            <a:off x="967482" y="952313"/>
            <a:ext cx="52641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AeroGuide</a:t>
            </a:r>
            <a:r>
              <a:rPr dirty="0" sz="80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operates</a:t>
            </a:r>
            <a:r>
              <a:rPr dirty="0" sz="80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across</a:t>
            </a:r>
            <a:r>
              <a:rPr dirty="0" sz="80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four</a:t>
            </a:r>
            <a:r>
              <a:rPr dirty="0" sz="80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integrated</a:t>
            </a:r>
            <a:r>
              <a:rPr dirty="0" sz="80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layers</a:t>
            </a:r>
            <a:r>
              <a:rPr dirty="0" sz="80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—</a:t>
            </a:r>
            <a:r>
              <a:rPr dirty="0" sz="80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from</a:t>
            </a:r>
            <a:r>
              <a:rPr dirty="0" sz="80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passenger</a:t>
            </a:r>
            <a:r>
              <a:rPr dirty="0" sz="80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interaction</a:t>
            </a:r>
            <a:r>
              <a:rPr dirty="0" sz="80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through</a:t>
            </a:r>
            <a:r>
              <a:rPr dirty="0" sz="80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to</a:t>
            </a:r>
            <a:r>
              <a:rPr dirty="0" sz="80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intelligent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output</a:t>
            </a:r>
            <a:r>
              <a:rPr dirty="0" sz="80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delivery.</a:t>
            </a:r>
            <a:endParaRPr sz="8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182" y="1283500"/>
            <a:ext cx="3464788" cy="346478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690935" y="2451430"/>
            <a:ext cx="3434715" cy="1094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B1B27"/>
                </a:solidFill>
                <a:latin typeface="Arial"/>
                <a:cs typeface="Arial"/>
              </a:rPr>
              <a:t>Layered</a:t>
            </a:r>
            <a:r>
              <a:rPr dirty="0" sz="1000" spc="-40">
                <a:solidFill>
                  <a:srgbClr val="1B1B27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B1B27"/>
                </a:solidFill>
                <a:latin typeface="Arial"/>
                <a:cs typeface="Arial"/>
              </a:rPr>
              <a:t>Intelligence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5999"/>
              </a:lnSpc>
              <a:spcBef>
                <a:spcPts val="530"/>
              </a:spcBef>
            </a:pP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Each</a:t>
            </a:r>
            <a:r>
              <a:rPr dirty="0" sz="8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layer</a:t>
            </a:r>
            <a:r>
              <a:rPr dirty="0" sz="8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communicates</a:t>
            </a:r>
            <a:r>
              <a:rPr dirty="0" sz="8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seamlessly</a:t>
            </a:r>
            <a:r>
              <a:rPr dirty="0" sz="8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to</a:t>
            </a:r>
            <a:r>
              <a:rPr dirty="0" sz="8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deliver</a:t>
            </a:r>
            <a:r>
              <a:rPr dirty="0" sz="8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real-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time</a:t>
            </a:r>
            <a:r>
              <a:rPr dirty="0" sz="8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airport</a:t>
            </a:r>
            <a:r>
              <a:rPr dirty="0" sz="8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assistance.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The</a:t>
            </a:r>
            <a:r>
              <a:rPr dirty="0" sz="8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User</a:t>
            </a:r>
            <a:r>
              <a:rPr dirty="0" sz="8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Layer</a:t>
            </a:r>
            <a:r>
              <a:rPr dirty="0" sz="8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captures</a:t>
            </a:r>
            <a:r>
              <a:rPr dirty="0" sz="8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passenger</a:t>
            </a:r>
            <a:r>
              <a:rPr dirty="0" sz="8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8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staff</a:t>
            </a:r>
            <a:r>
              <a:rPr dirty="0" sz="8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interactions,</a:t>
            </a:r>
            <a:r>
              <a:rPr dirty="0" sz="8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the</a:t>
            </a:r>
            <a:r>
              <a:rPr dirty="0" sz="8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Application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Layer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processes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requests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 through dedicated</a:t>
            </a:r>
            <a:r>
              <a:rPr dirty="0" sz="80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modules,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the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 Backend Layer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retrieves</a:t>
            </a:r>
            <a:r>
              <a:rPr dirty="0" sz="8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8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analyzes</a:t>
            </a:r>
            <a:r>
              <a:rPr dirty="0" sz="8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live</a:t>
            </a:r>
            <a:r>
              <a:rPr dirty="0" sz="8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data,</a:t>
            </a:r>
            <a:r>
              <a:rPr dirty="0" sz="8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8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the</a:t>
            </a:r>
            <a:r>
              <a:rPr dirty="0" sz="8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Output</a:t>
            </a:r>
            <a:r>
              <a:rPr dirty="0" sz="8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Layer</a:t>
            </a:r>
            <a:r>
              <a:rPr dirty="0" sz="8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delivers</a:t>
            </a:r>
            <a:r>
              <a:rPr dirty="0" sz="8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actionable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results</a:t>
            </a:r>
            <a:r>
              <a:rPr dirty="0" sz="8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—</a:t>
            </a:r>
            <a:r>
              <a:rPr dirty="0" sz="8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flight</a:t>
            </a:r>
            <a:r>
              <a:rPr dirty="0" sz="8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updates,</a:t>
            </a:r>
            <a:r>
              <a:rPr dirty="0" sz="8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route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 guidance,</a:t>
            </a:r>
            <a:r>
              <a:rPr dirty="0" sz="8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service</a:t>
            </a:r>
            <a:r>
              <a:rPr dirty="0" sz="8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recommendations,</a:t>
            </a:r>
            <a:r>
              <a:rPr dirty="0" sz="8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800">
                <a:solidFill>
                  <a:srgbClr val="404154"/>
                </a:solidFill>
                <a:latin typeface="Arial"/>
                <a:cs typeface="Arial"/>
              </a:rPr>
              <a:t> crowd</a:t>
            </a:r>
            <a:r>
              <a:rPr dirty="0" sz="800" spc="-4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alerts.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96119" y="521865"/>
            <a:ext cx="864869" cy="276225"/>
          </a:xfrm>
          <a:custGeom>
            <a:avLst/>
            <a:gdLst/>
            <a:ahLst/>
            <a:cxnLst/>
            <a:rect l="l" t="t" r="r" b="b"/>
            <a:pathLst>
              <a:path w="864869" h="276225">
                <a:moveTo>
                  <a:pt x="0" y="47637"/>
                </a:moveTo>
                <a:lnTo>
                  <a:pt x="3768" y="29167"/>
                </a:lnTo>
                <a:lnTo>
                  <a:pt x="14017" y="14017"/>
                </a:lnTo>
                <a:lnTo>
                  <a:pt x="29166" y="3767"/>
                </a:lnTo>
                <a:lnTo>
                  <a:pt x="47633" y="0"/>
                </a:lnTo>
                <a:lnTo>
                  <a:pt x="817206" y="0"/>
                </a:lnTo>
                <a:lnTo>
                  <a:pt x="835673" y="3767"/>
                </a:lnTo>
                <a:lnTo>
                  <a:pt x="850822" y="14017"/>
                </a:lnTo>
                <a:lnTo>
                  <a:pt x="861071" y="29167"/>
                </a:lnTo>
                <a:lnTo>
                  <a:pt x="864839" y="47637"/>
                </a:lnTo>
                <a:lnTo>
                  <a:pt x="864839" y="228295"/>
                </a:lnTo>
                <a:lnTo>
                  <a:pt x="861071" y="246757"/>
                </a:lnTo>
                <a:lnTo>
                  <a:pt x="850822" y="261904"/>
                </a:lnTo>
                <a:lnTo>
                  <a:pt x="835673" y="272152"/>
                </a:lnTo>
                <a:lnTo>
                  <a:pt x="817206" y="275920"/>
                </a:lnTo>
                <a:lnTo>
                  <a:pt x="47633" y="275920"/>
                </a:lnTo>
                <a:lnTo>
                  <a:pt x="29166" y="272152"/>
                </a:lnTo>
                <a:lnTo>
                  <a:pt x="14017" y="261904"/>
                </a:lnTo>
                <a:lnTo>
                  <a:pt x="3768" y="246757"/>
                </a:lnTo>
                <a:lnTo>
                  <a:pt x="0" y="228295"/>
                </a:lnTo>
                <a:lnTo>
                  <a:pt x="0" y="47637"/>
                </a:lnTo>
                <a:close/>
              </a:path>
            </a:pathLst>
          </a:custGeom>
          <a:ln w="4762">
            <a:solidFill>
              <a:srgbClr val="4867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3236" y="554132"/>
            <a:ext cx="70866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4867E9"/>
                </a:solidFill>
                <a:latin typeface="Arial"/>
                <a:cs typeface="Arial"/>
              </a:rPr>
              <a:t>TECH</a:t>
            </a:r>
            <a:r>
              <a:rPr dirty="0" sz="850" spc="-15">
                <a:solidFill>
                  <a:srgbClr val="4867E9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867E9"/>
                </a:solidFill>
                <a:latin typeface="Arial"/>
                <a:cs typeface="Arial"/>
              </a:rPr>
              <a:t>STACK</a:t>
            </a:r>
            <a:endParaRPr sz="8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3419" y="834405"/>
            <a:ext cx="2801620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/>
              <a:t>Technology </a:t>
            </a:r>
            <a:r>
              <a:rPr dirty="0" sz="2750" spc="-10"/>
              <a:t>Stack</a:t>
            </a:r>
            <a:endParaRPr sz="2750"/>
          </a:p>
        </p:txBody>
      </p:sp>
      <p:sp>
        <p:nvSpPr>
          <p:cNvPr id="5" name="object 5" descr=""/>
          <p:cNvSpPr txBox="1"/>
          <p:nvPr/>
        </p:nvSpPr>
        <p:spPr>
          <a:xfrm>
            <a:off x="483419" y="1494421"/>
            <a:ext cx="464375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Modern,</a:t>
            </a:r>
            <a:r>
              <a:rPr dirty="0" sz="11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proven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technologies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power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every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layer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of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the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AeroGuide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platform.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119" y="1896364"/>
            <a:ext cx="283518" cy="2835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83419" y="2340736"/>
            <a:ext cx="3851275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404154"/>
                </a:solidFill>
                <a:latin typeface="Arial"/>
                <a:cs typeface="Arial"/>
              </a:rPr>
              <a:t>Frontend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HTML5,</a:t>
            </a:r>
            <a:r>
              <a:rPr dirty="0" sz="1100" spc="-4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CSS3</a:t>
            </a:r>
            <a:r>
              <a:rPr dirty="0" sz="1100" spc="-4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&amp;</a:t>
            </a:r>
            <a:r>
              <a:rPr dirty="0" sz="1100" spc="-4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JavaScript</a:t>
            </a:r>
            <a:r>
              <a:rPr dirty="0" sz="1100" spc="-4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with</a:t>
            </a:r>
            <a:r>
              <a:rPr dirty="0" sz="1100" spc="-4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glassmorphism</a:t>
            </a:r>
            <a:r>
              <a:rPr dirty="0" sz="11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effects</a:t>
            </a:r>
            <a:r>
              <a:rPr dirty="0" sz="1100" spc="-4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1100" spc="-4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404154"/>
                </a:solidFill>
                <a:latin typeface="Arial"/>
                <a:cs typeface="Arial"/>
              </a:rPr>
              <a:t>a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dark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theme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 interface.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0556" y="1896364"/>
            <a:ext cx="283518" cy="28351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647856" y="2340736"/>
            <a:ext cx="3921760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404154"/>
                </a:solidFill>
                <a:latin typeface="Arial"/>
                <a:cs typeface="Arial"/>
              </a:rPr>
              <a:t>Backend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Node.js</a:t>
            </a:r>
            <a:r>
              <a:rPr dirty="0" sz="11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server</a:t>
            </a:r>
            <a:r>
              <a:rPr dirty="0" sz="11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with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MySQL</a:t>
            </a:r>
            <a:r>
              <a:rPr dirty="0" sz="11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database</a:t>
            </a:r>
            <a:r>
              <a:rPr dirty="0" sz="11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for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 reliable,</a:t>
            </a:r>
            <a:r>
              <a:rPr dirty="0" sz="11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scalable</a:t>
            </a:r>
            <a:r>
              <a:rPr dirty="0" sz="11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404154"/>
                </a:solidFill>
                <a:latin typeface="Arial"/>
                <a:cs typeface="Arial"/>
              </a:rPr>
              <a:t>data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management.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6119" y="3400717"/>
            <a:ext cx="283518" cy="28351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483419" y="3845090"/>
            <a:ext cx="3977004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404154"/>
                </a:solidFill>
                <a:latin typeface="Arial"/>
                <a:cs typeface="Arial"/>
              </a:rPr>
              <a:t>AI </a:t>
            </a:r>
            <a:r>
              <a:rPr dirty="0" sz="1350" spc="-10">
                <a:solidFill>
                  <a:srgbClr val="404154"/>
                </a:solidFill>
                <a:latin typeface="Arial"/>
                <a:cs typeface="Arial"/>
              </a:rPr>
              <a:t>Technologies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Natural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Language</a:t>
            </a:r>
            <a:r>
              <a:rPr dirty="0" sz="11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Processing</a:t>
            </a:r>
            <a:r>
              <a:rPr dirty="0" sz="11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11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chatbot</a:t>
            </a:r>
            <a:r>
              <a:rPr dirty="0" sz="11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integration</a:t>
            </a:r>
            <a:r>
              <a:rPr dirty="0" sz="11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power</a:t>
            </a:r>
            <a:r>
              <a:rPr dirty="0" sz="11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the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intelligent</a:t>
            </a:r>
            <a:r>
              <a:rPr dirty="0" sz="1100" spc="1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assistant.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60556" y="3400717"/>
            <a:ext cx="283518" cy="283514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4647856" y="3845090"/>
            <a:ext cx="3558540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404154"/>
                </a:solidFill>
                <a:latin typeface="Arial"/>
                <a:cs typeface="Arial"/>
              </a:rPr>
              <a:t>UI</a:t>
            </a:r>
            <a:r>
              <a:rPr dirty="0" sz="135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404154"/>
                </a:solidFill>
                <a:latin typeface="Arial"/>
                <a:cs typeface="Arial"/>
              </a:rPr>
              <a:t>Design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Responsive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dashboard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with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glassmorphism</a:t>
            </a:r>
            <a:r>
              <a:rPr dirty="0" sz="11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effects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404154"/>
                </a:solidFill>
                <a:latin typeface="Arial"/>
                <a:cs typeface="Arial"/>
              </a:rPr>
              <a:t>a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cohesive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 dark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theme.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41871" y="361279"/>
            <a:ext cx="753745" cy="238125"/>
          </a:xfrm>
          <a:custGeom>
            <a:avLst/>
            <a:gdLst/>
            <a:ahLst/>
            <a:cxnLst/>
            <a:rect l="l" t="t" r="r" b="b"/>
            <a:pathLst>
              <a:path w="753744" h="238125">
                <a:moveTo>
                  <a:pt x="0" y="42417"/>
                </a:moveTo>
                <a:lnTo>
                  <a:pt x="3355" y="25974"/>
                </a:lnTo>
                <a:lnTo>
                  <a:pt x="12484" y="12484"/>
                </a:lnTo>
                <a:lnTo>
                  <a:pt x="25976" y="3355"/>
                </a:lnTo>
                <a:lnTo>
                  <a:pt x="42423" y="0"/>
                </a:lnTo>
                <a:lnTo>
                  <a:pt x="711093" y="0"/>
                </a:lnTo>
                <a:lnTo>
                  <a:pt x="727540" y="3355"/>
                </a:lnTo>
                <a:lnTo>
                  <a:pt x="741032" y="12484"/>
                </a:lnTo>
                <a:lnTo>
                  <a:pt x="750160" y="25974"/>
                </a:lnTo>
                <a:lnTo>
                  <a:pt x="753516" y="42417"/>
                </a:lnTo>
                <a:lnTo>
                  <a:pt x="753516" y="195554"/>
                </a:lnTo>
                <a:lnTo>
                  <a:pt x="750160" y="211997"/>
                </a:lnTo>
                <a:lnTo>
                  <a:pt x="741032" y="225488"/>
                </a:lnTo>
                <a:lnTo>
                  <a:pt x="727540" y="234616"/>
                </a:lnTo>
                <a:lnTo>
                  <a:pt x="711093" y="237972"/>
                </a:lnTo>
                <a:lnTo>
                  <a:pt x="42423" y="237972"/>
                </a:lnTo>
                <a:lnTo>
                  <a:pt x="25976" y="234616"/>
                </a:lnTo>
                <a:lnTo>
                  <a:pt x="12484" y="225488"/>
                </a:lnTo>
                <a:lnTo>
                  <a:pt x="3355" y="211997"/>
                </a:lnTo>
                <a:lnTo>
                  <a:pt x="0" y="195554"/>
                </a:lnTo>
                <a:lnTo>
                  <a:pt x="0" y="42417"/>
                </a:lnTo>
                <a:close/>
              </a:path>
            </a:pathLst>
          </a:custGeom>
          <a:ln w="4762">
            <a:solidFill>
              <a:srgbClr val="4867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09686" y="389200"/>
            <a:ext cx="59626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4867E9"/>
                </a:solidFill>
                <a:latin typeface="Arial"/>
                <a:cs typeface="Arial"/>
              </a:rPr>
              <a:t>WORKFLOW</a:t>
            </a:r>
            <a:endParaRPr sz="7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9171" y="624923"/>
            <a:ext cx="2376805" cy="3987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/>
              <a:t>Working</a:t>
            </a:r>
            <a:r>
              <a:rPr dirty="0" sz="2450" spc="-114"/>
              <a:t> </a:t>
            </a:r>
            <a:r>
              <a:rPr dirty="0" sz="2450" spc="-10"/>
              <a:t>Process</a:t>
            </a:r>
            <a:endParaRPr sz="2450"/>
          </a:p>
        </p:txBody>
      </p:sp>
      <p:sp>
        <p:nvSpPr>
          <p:cNvPr id="5" name="object 5" descr=""/>
          <p:cNvSpPr txBox="1"/>
          <p:nvPr/>
        </p:nvSpPr>
        <p:spPr>
          <a:xfrm>
            <a:off x="429171" y="1192114"/>
            <a:ext cx="496506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From</a:t>
            </a:r>
            <a:r>
              <a:rPr dirty="0" sz="9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a</a:t>
            </a:r>
            <a:r>
              <a:rPr dirty="0" sz="9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single</a:t>
            </a:r>
            <a:r>
              <a:rPr dirty="0" sz="9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search</a:t>
            </a:r>
            <a:r>
              <a:rPr dirty="0" sz="9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to</a:t>
            </a:r>
            <a:r>
              <a:rPr dirty="0" sz="9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intelligent</a:t>
            </a:r>
            <a:r>
              <a:rPr dirty="0" sz="9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output</a:t>
            </a:r>
            <a:r>
              <a:rPr dirty="0" sz="9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—</a:t>
            </a:r>
            <a:r>
              <a:rPr dirty="0" sz="9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AeroGuide</a:t>
            </a:r>
            <a:r>
              <a:rPr dirty="0" sz="9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processes</a:t>
            </a:r>
            <a:r>
              <a:rPr dirty="0" sz="9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every</a:t>
            </a:r>
            <a:r>
              <a:rPr dirty="0" sz="9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request</a:t>
            </a:r>
            <a:r>
              <a:rPr dirty="0" sz="9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in</a:t>
            </a:r>
            <a:r>
              <a:rPr dirty="0" sz="9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real</a:t>
            </a:r>
            <a:r>
              <a:rPr dirty="0" sz="9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04154"/>
                </a:solidFill>
                <a:latin typeface="Arial"/>
                <a:cs typeface="Arial"/>
              </a:rPr>
              <a:t>time.</a:t>
            </a:r>
            <a:endParaRPr sz="95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0220" y="1524812"/>
            <a:ext cx="6423571" cy="293987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477644" y="3633813"/>
            <a:ext cx="821690" cy="47625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R="5080" indent="97155">
              <a:lnSpc>
                <a:spcPct val="104000"/>
              </a:lnSpc>
              <a:spcBef>
                <a:spcPts val="30"/>
              </a:spcBef>
            </a:pPr>
            <a:r>
              <a:rPr dirty="0" sz="1450" spc="-10">
                <a:solidFill>
                  <a:srgbClr val="404154"/>
                </a:solidFill>
                <a:latin typeface="Arial"/>
                <a:cs typeface="Arial"/>
              </a:rPr>
              <a:t>Results Displayed</a:t>
            </a:r>
            <a:endParaRPr sz="14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09024" y="3633813"/>
            <a:ext cx="718820" cy="47625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R="5080" indent="20320">
              <a:lnSpc>
                <a:spcPct val="104000"/>
              </a:lnSpc>
              <a:spcBef>
                <a:spcPts val="30"/>
              </a:spcBef>
            </a:pPr>
            <a:r>
              <a:rPr dirty="0" sz="1450">
                <a:solidFill>
                  <a:srgbClr val="404154"/>
                </a:solidFill>
                <a:latin typeface="Arial"/>
                <a:cs typeface="Arial"/>
              </a:rPr>
              <a:t>Route</a:t>
            </a:r>
            <a:r>
              <a:rPr dirty="0" sz="1450" spc="-5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404154"/>
                </a:solidFill>
                <a:latin typeface="Arial"/>
                <a:cs typeface="Arial"/>
              </a:rPr>
              <a:t>&amp; </a:t>
            </a:r>
            <a:r>
              <a:rPr dirty="0" sz="1450" spc="-10">
                <a:solidFill>
                  <a:srgbClr val="404154"/>
                </a:solidFill>
                <a:latin typeface="Arial"/>
                <a:cs typeface="Arial"/>
              </a:rPr>
              <a:t>Services</a:t>
            </a:r>
            <a:endParaRPr sz="14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282431" y="3749967"/>
            <a:ext cx="1148715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404154"/>
                </a:solidFill>
                <a:latin typeface="Arial"/>
                <a:cs typeface="Arial"/>
              </a:rPr>
              <a:t>AI </a:t>
            </a:r>
            <a:r>
              <a:rPr dirty="0" sz="1450" spc="-10">
                <a:solidFill>
                  <a:srgbClr val="404154"/>
                </a:solidFill>
                <a:latin typeface="Arial"/>
                <a:cs typeface="Arial"/>
              </a:rPr>
              <a:t>Processing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81061" y="3749967"/>
            <a:ext cx="861694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404154"/>
                </a:solidFill>
                <a:latin typeface="Arial"/>
                <a:cs typeface="Arial"/>
              </a:rPr>
              <a:t>User</a:t>
            </a:r>
            <a:r>
              <a:rPr dirty="0" sz="145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Arial"/>
                <a:cs typeface="Arial"/>
              </a:rPr>
              <a:t>Input</a:t>
            </a:r>
            <a:endParaRPr sz="14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29171" y="4575949"/>
            <a:ext cx="560260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Intelligent</a:t>
            </a:r>
            <a:r>
              <a:rPr dirty="0" sz="9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assistance</a:t>
            </a:r>
            <a:r>
              <a:rPr dirty="0" sz="9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is</a:t>
            </a:r>
            <a:r>
              <a:rPr dirty="0" sz="9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delivered</a:t>
            </a:r>
            <a:r>
              <a:rPr dirty="0" sz="9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through</a:t>
            </a:r>
            <a:r>
              <a:rPr dirty="0" sz="9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seamless</a:t>
            </a:r>
            <a:r>
              <a:rPr dirty="0" sz="9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04154"/>
                </a:solidFill>
                <a:latin typeface="Arial"/>
                <a:cs typeface="Arial"/>
              </a:rPr>
              <a:t>real-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time</a:t>
            </a:r>
            <a:r>
              <a:rPr dirty="0" sz="9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processing</a:t>
            </a:r>
            <a:r>
              <a:rPr dirty="0" sz="9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9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live</a:t>
            </a:r>
            <a:r>
              <a:rPr dirty="0" sz="9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analytics</a:t>
            </a:r>
            <a:r>
              <a:rPr dirty="0" sz="9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at</a:t>
            </a:r>
            <a:r>
              <a:rPr dirty="0" sz="9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04154"/>
                </a:solidFill>
                <a:latin typeface="Arial"/>
                <a:cs typeface="Arial"/>
              </a:rPr>
              <a:t>every</a:t>
            </a:r>
            <a:r>
              <a:rPr dirty="0" sz="9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04154"/>
                </a:solidFill>
                <a:latin typeface="Arial"/>
                <a:cs typeface="Arial"/>
              </a:rPr>
              <a:t>step.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10839" y="419026"/>
            <a:ext cx="734695" cy="208279"/>
          </a:xfrm>
          <a:custGeom>
            <a:avLst/>
            <a:gdLst/>
            <a:ahLst/>
            <a:cxnLst/>
            <a:rect l="l" t="t" r="r" b="b"/>
            <a:pathLst>
              <a:path w="734694" h="208279">
                <a:moveTo>
                  <a:pt x="694871" y="0"/>
                </a:moveTo>
                <a:lnTo>
                  <a:pt x="39446" y="0"/>
                </a:lnTo>
                <a:lnTo>
                  <a:pt x="24153" y="3120"/>
                </a:lnTo>
                <a:lnTo>
                  <a:pt x="11608" y="11607"/>
                </a:lnTo>
                <a:lnTo>
                  <a:pt x="3120" y="24153"/>
                </a:lnTo>
                <a:lnTo>
                  <a:pt x="0" y="39446"/>
                </a:lnTo>
                <a:lnTo>
                  <a:pt x="0" y="168236"/>
                </a:lnTo>
                <a:lnTo>
                  <a:pt x="3120" y="183532"/>
                </a:lnTo>
                <a:lnTo>
                  <a:pt x="11608" y="196081"/>
                </a:lnTo>
                <a:lnTo>
                  <a:pt x="24153" y="204573"/>
                </a:lnTo>
                <a:lnTo>
                  <a:pt x="39446" y="207695"/>
                </a:lnTo>
                <a:lnTo>
                  <a:pt x="694871" y="207695"/>
                </a:lnTo>
                <a:lnTo>
                  <a:pt x="710164" y="204573"/>
                </a:lnTo>
                <a:lnTo>
                  <a:pt x="722709" y="196081"/>
                </a:lnTo>
                <a:lnTo>
                  <a:pt x="731197" y="183532"/>
                </a:lnTo>
                <a:lnTo>
                  <a:pt x="734317" y="168236"/>
                </a:lnTo>
                <a:lnTo>
                  <a:pt x="734317" y="39446"/>
                </a:lnTo>
                <a:lnTo>
                  <a:pt x="731197" y="24153"/>
                </a:lnTo>
                <a:lnTo>
                  <a:pt x="722709" y="11607"/>
                </a:lnTo>
                <a:lnTo>
                  <a:pt x="710164" y="3120"/>
                </a:lnTo>
                <a:lnTo>
                  <a:pt x="694871" y="0"/>
                </a:lnTo>
                <a:close/>
              </a:path>
            </a:pathLst>
          </a:custGeom>
          <a:solidFill>
            <a:srgbClr val="D2D9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68536" y="439643"/>
            <a:ext cx="58864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404154"/>
                </a:solidFill>
                <a:latin typeface="Arial"/>
                <a:cs typeface="Arial"/>
              </a:rPr>
              <a:t>DASHBOARD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139" y="646686"/>
            <a:ext cx="3253740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/>
              <a:t>Smart</a:t>
            </a:r>
            <a:r>
              <a:rPr dirty="0" sz="2300" spc="-40"/>
              <a:t> </a:t>
            </a:r>
            <a:r>
              <a:rPr dirty="0" sz="2300"/>
              <a:t>Airport</a:t>
            </a:r>
            <a:r>
              <a:rPr dirty="0" sz="2300" spc="-35"/>
              <a:t> </a:t>
            </a:r>
            <a:r>
              <a:rPr dirty="0" sz="2300" spc="-10"/>
              <a:t>Dashboard</a:t>
            </a:r>
            <a:endParaRPr sz="2300"/>
          </a:p>
        </p:txBody>
      </p:sp>
      <p:grpSp>
        <p:nvGrpSpPr>
          <p:cNvPr id="6" name="object 6" descr=""/>
          <p:cNvGrpSpPr/>
          <p:nvPr/>
        </p:nvGrpSpPr>
        <p:grpSpPr>
          <a:xfrm>
            <a:off x="408458" y="1628476"/>
            <a:ext cx="4898390" cy="662940"/>
            <a:chOff x="408458" y="1628476"/>
            <a:chExt cx="4898390" cy="662940"/>
          </a:xfrm>
        </p:grpSpPr>
        <p:sp>
          <p:nvSpPr>
            <p:cNvPr id="7" name="object 7" descr=""/>
            <p:cNvSpPr/>
            <p:nvPr/>
          </p:nvSpPr>
          <p:spPr>
            <a:xfrm>
              <a:off x="410839" y="1630857"/>
              <a:ext cx="4893945" cy="657860"/>
            </a:xfrm>
            <a:custGeom>
              <a:avLst/>
              <a:gdLst/>
              <a:ahLst/>
              <a:cxnLst/>
              <a:rect l="l" t="t" r="r" b="b"/>
              <a:pathLst>
                <a:path w="4893945" h="657860">
                  <a:moveTo>
                    <a:pt x="4844008" y="0"/>
                  </a:moveTo>
                  <a:lnTo>
                    <a:pt x="49306" y="0"/>
                  </a:lnTo>
                  <a:lnTo>
                    <a:pt x="30191" y="3901"/>
                  </a:lnTo>
                  <a:lnTo>
                    <a:pt x="14509" y="14511"/>
                  </a:lnTo>
                  <a:lnTo>
                    <a:pt x="3900" y="30191"/>
                  </a:lnTo>
                  <a:lnTo>
                    <a:pt x="0" y="49301"/>
                  </a:lnTo>
                  <a:lnTo>
                    <a:pt x="0" y="608291"/>
                  </a:lnTo>
                  <a:lnTo>
                    <a:pt x="3900" y="627407"/>
                  </a:lnTo>
                  <a:lnTo>
                    <a:pt x="14509" y="643086"/>
                  </a:lnTo>
                  <a:lnTo>
                    <a:pt x="30191" y="653694"/>
                  </a:lnTo>
                  <a:lnTo>
                    <a:pt x="49306" y="657593"/>
                  </a:lnTo>
                  <a:lnTo>
                    <a:pt x="4844008" y="657593"/>
                  </a:lnTo>
                  <a:lnTo>
                    <a:pt x="4863126" y="653694"/>
                  </a:lnTo>
                  <a:lnTo>
                    <a:pt x="4878809" y="643086"/>
                  </a:lnTo>
                  <a:lnTo>
                    <a:pt x="4889421" y="627407"/>
                  </a:lnTo>
                  <a:lnTo>
                    <a:pt x="4893322" y="608291"/>
                  </a:lnTo>
                  <a:lnTo>
                    <a:pt x="4893322" y="49301"/>
                  </a:lnTo>
                  <a:lnTo>
                    <a:pt x="4889421" y="30191"/>
                  </a:lnTo>
                  <a:lnTo>
                    <a:pt x="4878809" y="14511"/>
                  </a:lnTo>
                  <a:lnTo>
                    <a:pt x="4863126" y="3901"/>
                  </a:lnTo>
                  <a:lnTo>
                    <a:pt x="4844008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10839" y="1630857"/>
              <a:ext cx="4893945" cy="657860"/>
            </a:xfrm>
            <a:custGeom>
              <a:avLst/>
              <a:gdLst/>
              <a:ahLst/>
              <a:cxnLst/>
              <a:rect l="l" t="t" r="r" b="b"/>
              <a:pathLst>
                <a:path w="4893945" h="657860">
                  <a:moveTo>
                    <a:pt x="0" y="49301"/>
                  </a:moveTo>
                  <a:lnTo>
                    <a:pt x="3900" y="30191"/>
                  </a:lnTo>
                  <a:lnTo>
                    <a:pt x="14509" y="14511"/>
                  </a:lnTo>
                  <a:lnTo>
                    <a:pt x="30191" y="3901"/>
                  </a:lnTo>
                  <a:lnTo>
                    <a:pt x="49306" y="0"/>
                  </a:lnTo>
                  <a:lnTo>
                    <a:pt x="4844008" y="0"/>
                  </a:lnTo>
                  <a:lnTo>
                    <a:pt x="4863126" y="3901"/>
                  </a:lnTo>
                  <a:lnTo>
                    <a:pt x="4878809" y="14511"/>
                  </a:lnTo>
                  <a:lnTo>
                    <a:pt x="4889421" y="30191"/>
                  </a:lnTo>
                  <a:lnTo>
                    <a:pt x="4893322" y="49301"/>
                  </a:lnTo>
                  <a:lnTo>
                    <a:pt x="4893322" y="608291"/>
                  </a:lnTo>
                  <a:lnTo>
                    <a:pt x="4889421" y="627407"/>
                  </a:lnTo>
                  <a:lnTo>
                    <a:pt x="4878809" y="643086"/>
                  </a:lnTo>
                  <a:lnTo>
                    <a:pt x="4863126" y="653694"/>
                  </a:lnTo>
                  <a:lnTo>
                    <a:pt x="4844008" y="657593"/>
                  </a:lnTo>
                  <a:lnTo>
                    <a:pt x="49306" y="657593"/>
                  </a:lnTo>
                  <a:lnTo>
                    <a:pt x="30191" y="653694"/>
                  </a:lnTo>
                  <a:lnTo>
                    <a:pt x="14509" y="643086"/>
                  </a:lnTo>
                  <a:lnTo>
                    <a:pt x="3900" y="627407"/>
                  </a:lnTo>
                  <a:lnTo>
                    <a:pt x="0" y="608291"/>
                  </a:lnTo>
                  <a:lnTo>
                    <a:pt x="0" y="49301"/>
                  </a:lnTo>
                  <a:close/>
                </a:path>
              </a:pathLst>
            </a:custGeom>
            <a:ln w="4762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408458" y="2383262"/>
            <a:ext cx="4898390" cy="662940"/>
            <a:chOff x="408458" y="2383262"/>
            <a:chExt cx="4898390" cy="662940"/>
          </a:xfrm>
        </p:grpSpPr>
        <p:sp>
          <p:nvSpPr>
            <p:cNvPr id="10" name="object 10" descr=""/>
            <p:cNvSpPr/>
            <p:nvPr/>
          </p:nvSpPr>
          <p:spPr>
            <a:xfrm>
              <a:off x="410839" y="2385644"/>
              <a:ext cx="4893945" cy="657860"/>
            </a:xfrm>
            <a:custGeom>
              <a:avLst/>
              <a:gdLst/>
              <a:ahLst/>
              <a:cxnLst/>
              <a:rect l="l" t="t" r="r" b="b"/>
              <a:pathLst>
                <a:path w="4893945" h="657860">
                  <a:moveTo>
                    <a:pt x="4844008" y="0"/>
                  </a:moveTo>
                  <a:lnTo>
                    <a:pt x="49306" y="0"/>
                  </a:lnTo>
                  <a:lnTo>
                    <a:pt x="30191" y="3901"/>
                  </a:lnTo>
                  <a:lnTo>
                    <a:pt x="14509" y="14511"/>
                  </a:lnTo>
                  <a:lnTo>
                    <a:pt x="3900" y="30191"/>
                  </a:lnTo>
                  <a:lnTo>
                    <a:pt x="0" y="49301"/>
                  </a:lnTo>
                  <a:lnTo>
                    <a:pt x="0" y="608291"/>
                  </a:lnTo>
                  <a:lnTo>
                    <a:pt x="3900" y="627407"/>
                  </a:lnTo>
                  <a:lnTo>
                    <a:pt x="14509" y="643086"/>
                  </a:lnTo>
                  <a:lnTo>
                    <a:pt x="30191" y="653694"/>
                  </a:lnTo>
                  <a:lnTo>
                    <a:pt x="49306" y="657593"/>
                  </a:lnTo>
                  <a:lnTo>
                    <a:pt x="4844008" y="657593"/>
                  </a:lnTo>
                  <a:lnTo>
                    <a:pt x="4863126" y="653694"/>
                  </a:lnTo>
                  <a:lnTo>
                    <a:pt x="4878809" y="643086"/>
                  </a:lnTo>
                  <a:lnTo>
                    <a:pt x="4889421" y="627407"/>
                  </a:lnTo>
                  <a:lnTo>
                    <a:pt x="4893322" y="608291"/>
                  </a:lnTo>
                  <a:lnTo>
                    <a:pt x="4893322" y="49301"/>
                  </a:lnTo>
                  <a:lnTo>
                    <a:pt x="4889421" y="30191"/>
                  </a:lnTo>
                  <a:lnTo>
                    <a:pt x="4878809" y="14511"/>
                  </a:lnTo>
                  <a:lnTo>
                    <a:pt x="4863126" y="3901"/>
                  </a:lnTo>
                  <a:lnTo>
                    <a:pt x="4844008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10839" y="2385644"/>
              <a:ext cx="4893945" cy="657860"/>
            </a:xfrm>
            <a:custGeom>
              <a:avLst/>
              <a:gdLst/>
              <a:ahLst/>
              <a:cxnLst/>
              <a:rect l="l" t="t" r="r" b="b"/>
              <a:pathLst>
                <a:path w="4893945" h="657860">
                  <a:moveTo>
                    <a:pt x="0" y="49301"/>
                  </a:moveTo>
                  <a:lnTo>
                    <a:pt x="3900" y="30191"/>
                  </a:lnTo>
                  <a:lnTo>
                    <a:pt x="14509" y="14511"/>
                  </a:lnTo>
                  <a:lnTo>
                    <a:pt x="30191" y="3901"/>
                  </a:lnTo>
                  <a:lnTo>
                    <a:pt x="49306" y="0"/>
                  </a:lnTo>
                  <a:lnTo>
                    <a:pt x="4844008" y="0"/>
                  </a:lnTo>
                  <a:lnTo>
                    <a:pt x="4863126" y="3901"/>
                  </a:lnTo>
                  <a:lnTo>
                    <a:pt x="4878809" y="14511"/>
                  </a:lnTo>
                  <a:lnTo>
                    <a:pt x="4889421" y="30191"/>
                  </a:lnTo>
                  <a:lnTo>
                    <a:pt x="4893322" y="49301"/>
                  </a:lnTo>
                  <a:lnTo>
                    <a:pt x="4893322" y="608291"/>
                  </a:lnTo>
                  <a:lnTo>
                    <a:pt x="4889421" y="627407"/>
                  </a:lnTo>
                  <a:lnTo>
                    <a:pt x="4878809" y="643086"/>
                  </a:lnTo>
                  <a:lnTo>
                    <a:pt x="4863126" y="653694"/>
                  </a:lnTo>
                  <a:lnTo>
                    <a:pt x="4844008" y="657593"/>
                  </a:lnTo>
                  <a:lnTo>
                    <a:pt x="49306" y="657593"/>
                  </a:lnTo>
                  <a:lnTo>
                    <a:pt x="30191" y="653694"/>
                  </a:lnTo>
                  <a:lnTo>
                    <a:pt x="14509" y="643086"/>
                  </a:lnTo>
                  <a:lnTo>
                    <a:pt x="3900" y="627407"/>
                  </a:lnTo>
                  <a:lnTo>
                    <a:pt x="0" y="608291"/>
                  </a:lnTo>
                  <a:lnTo>
                    <a:pt x="0" y="49301"/>
                  </a:lnTo>
                  <a:close/>
                </a:path>
              </a:pathLst>
            </a:custGeom>
            <a:ln w="4762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408458" y="3138036"/>
            <a:ext cx="4898390" cy="834390"/>
            <a:chOff x="408458" y="3138036"/>
            <a:chExt cx="4898390" cy="834390"/>
          </a:xfrm>
        </p:grpSpPr>
        <p:sp>
          <p:nvSpPr>
            <p:cNvPr id="13" name="object 13" descr=""/>
            <p:cNvSpPr/>
            <p:nvPr/>
          </p:nvSpPr>
          <p:spPr>
            <a:xfrm>
              <a:off x="410839" y="3140417"/>
              <a:ext cx="4893945" cy="829310"/>
            </a:xfrm>
            <a:custGeom>
              <a:avLst/>
              <a:gdLst/>
              <a:ahLst/>
              <a:cxnLst/>
              <a:rect l="l" t="t" r="r" b="b"/>
              <a:pathLst>
                <a:path w="4893945" h="829310">
                  <a:moveTo>
                    <a:pt x="4844008" y="0"/>
                  </a:moveTo>
                  <a:lnTo>
                    <a:pt x="49308" y="0"/>
                  </a:lnTo>
                  <a:lnTo>
                    <a:pt x="30192" y="3901"/>
                  </a:lnTo>
                  <a:lnTo>
                    <a:pt x="14510" y="14512"/>
                  </a:lnTo>
                  <a:lnTo>
                    <a:pt x="3900" y="30196"/>
                  </a:lnTo>
                  <a:lnTo>
                    <a:pt x="0" y="49314"/>
                  </a:lnTo>
                  <a:lnTo>
                    <a:pt x="0" y="779957"/>
                  </a:lnTo>
                  <a:lnTo>
                    <a:pt x="3900" y="799075"/>
                  </a:lnTo>
                  <a:lnTo>
                    <a:pt x="14510" y="814758"/>
                  </a:lnTo>
                  <a:lnTo>
                    <a:pt x="30192" y="825370"/>
                  </a:lnTo>
                  <a:lnTo>
                    <a:pt x="49308" y="829271"/>
                  </a:lnTo>
                  <a:lnTo>
                    <a:pt x="4844008" y="829271"/>
                  </a:lnTo>
                  <a:lnTo>
                    <a:pt x="4863126" y="825370"/>
                  </a:lnTo>
                  <a:lnTo>
                    <a:pt x="4878809" y="814758"/>
                  </a:lnTo>
                  <a:lnTo>
                    <a:pt x="4889421" y="799075"/>
                  </a:lnTo>
                  <a:lnTo>
                    <a:pt x="4893322" y="779957"/>
                  </a:lnTo>
                  <a:lnTo>
                    <a:pt x="4893322" y="49314"/>
                  </a:lnTo>
                  <a:lnTo>
                    <a:pt x="4889421" y="30196"/>
                  </a:lnTo>
                  <a:lnTo>
                    <a:pt x="4878809" y="14512"/>
                  </a:lnTo>
                  <a:lnTo>
                    <a:pt x="4863126" y="3901"/>
                  </a:lnTo>
                  <a:lnTo>
                    <a:pt x="4844008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10839" y="3140417"/>
              <a:ext cx="4893945" cy="829310"/>
            </a:xfrm>
            <a:custGeom>
              <a:avLst/>
              <a:gdLst/>
              <a:ahLst/>
              <a:cxnLst/>
              <a:rect l="l" t="t" r="r" b="b"/>
              <a:pathLst>
                <a:path w="4893945" h="829310">
                  <a:moveTo>
                    <a:pt x="0" y="49314"/>
                  </a:moveTo>
                  <a:lnTo>
                    <a:pt x="3900" y="30196"/>
                  </a:lnTo>
                  <a:lnTo>
                    <a:pt x="14510" y="14512"/>
                  </a:lnTo>
                  <a:lnTo>
                    <a:pt x="30192" y="3901"/>
                  </a:lnTo>
                  <a:lnTo>
                    <a:pt x="49308" y="0"/>
                  </a:lnTo>
                  <a:lnTo>
                    <a:pt x="4844008" y="0"/>
                  </a:lnTo>
                  <a:lnTo>
                    <a:pt x="4863126" y="3901"/>
                  </a:lnTo>
                  <a:lnTo>
                    <a:pt x="4878809" y="14512"/>
                  </a:lnTo>
                  <a:lnTo>
                    <a:pt x="4889421" y="30196"/>
                  </a:lnTo>
                  <a:lnTo>
                    <a:pt x="4893322" y="49314"/>
                  </a:lnTo>
                  <a:lnTo>
                    <a:pt x="4893322" y="779957"/>
                  </a:lnTo>
                  <a:lnTo>
                    <a:pt x="4889421" y="799075"/>
                  </a:lnTo>
                  <a:lnTo>
                    <a:pt x="4878809" y="814758"/>
                  </a:lnTo>
                  <a:lnTo>
                    <a:pt x="4863126" y="825370"/>
                  </a:lnTo>
                  <a:lnTo>
                    <a:pt x="4844008" y="829271"/>
                  </a:lnTo>
                  <a:lnTo>
                    <a:pt x="49308" y="829271"/>
                  </a:lnTo>
                  <a:lnTo>
                    <a:pt x="30192" y="825370"/>
                  </a:lnTo>
                  <a:lnTo>
                    <a:pt x="14510" y="814758"/>
                  </a:lnTo>
                  <a:lnTo>
                    <a:pt x="3900" y="799075"/>
                  </a:lnTo>
                  <a:lnTo>
                    <a:pt x="0" y="779957"/>
                  </a:lnTo>
                  <a:lnTo>
                    <a:pt x="0" y="49314"/>
                  </a:lnTo>
                  <a:close/>
                </a:path>
              </a:pathLst>
            </a:custGeom>
            <a:ln w="4762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2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15"/>
              <a:t> </a:t>
            </a:r>
            <a:r>
              <a:rPr dirty="0"/>
              <a:t>central</a:t>
            </a:r>
            <a:r>
              <a:rPr dirty="0" spc="-15"/>
              <a:t> </a:t>
            </a:r>
            <a:r>
              <a:rPr dirty="0"/>
              <a:t>hub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all</a:t>
            </a:r>
            <a:r>
              <a:rPr dirty="0" spc="-15"/>
              <a:t> </a:t>
            </a:r>
            <a:r>
              <a:rPr dirty="0"/>
              <a:t>airport</a:t>
            </a:r>
            <a:r>
              <a:rPr dirty="0" spc="-15"/>
              <a:t> </a:t>
            </a:r>
            <a:r>
              <a:rPr dirty="0"/>
              <a:t>services</a:t>
            </a:r>
            <a:r>
              <a:rPr dirty="0" spc="-10"/>
              <a:t> </a:t>
            </a:r>
            <a:r>
              <a:rPr dirty="0"/>
              <a:t>—</a:t>
            </a:r>
            <a:r>
              <a:rPr dirty="0" spc="-15"/>
              <a:t> </a:t>
            </a:r>
            <a:r>
              <a:rPr dirty="0"/>
              <a:t>unified</a:t>
            </a:r>
            <a:r>
              <a:rPr dirty="0" spc="-15"/>
              <a:t> </a:t>
            </a:r>
            <a:r>
              <a:rPr dirty="0"/>
              <a:t>search,</a:t>
            </a:r>
            <a:r>
              <a:rPr dirty="0" spc="-10"/>
              <a:t> </a:t>
            </a:r>
            <a:r>
              <a:rPr dirty="0"/>
              <a:t>voice</a:t>
            </a:r>
            <a:r>
              <a:rPr dirty="0" spc="-15"/>
              <a:t> </a:t>
            </a:r>
            <a:r>
              <a:rPr dirty="0"/>
              <a:t>input,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0"/>
              <a:t> real-</a:t>
            </a:r>
            <a:r>
              <a:rPr dirty="0"/>
              <a:t>time</a:t>
            </a:r>
            <a:r>
              <a:rPr dirty="0" spc="-15"/>
              <a:t> </a:t>
            </a:r>
            <a:r>
              <a:rPr dirty="0"/>
              <a:t>data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10"/>
              <a:t> </a:t>
            </a:r>
            <a:r>
              <a:rPr dirty="0" spc="-25"/>
              <a:t>one </a:t>
            </a:r>
            <a:r>
              <a:rPr dirty="0" spc="-10"/>
              <a:t>place.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50"/>
              </a:spcBef>
            </a:pPr>
          </a:p>
          <a:p>
            <a:pPr marL="134620">
              <a:lnSpc>
                <a:spcPct val="100000"/>
              </a:lnSpc>
            </a:pPr>
            <a:r>
              <a:rPr dirty="0" sz="1150"/>
              <a:t>Smart</a:t>
            </a:r>
            <a:r>
              <a:rPr dirty="0" sz="1150" spc="-20"/>
              <a:t> </a:t>
            </a:r>
            <a:r>
              <a:rPr dirty="0" sz="1150"/>
              <a:t>Search</a:t>
            </a:r>
            <a:r>
              <a:rPr dirty="0" sz="1150" spc="-20"/>
              <a:t> </a:t>
            </a:r>
            <a:r>
              <a:rPr dirty="0" sz="1150"/>
              <a:t>&amp;</a:t>
            </a:r>
            <a:r>
              <a:rPr dirty="0" sz="1150" spc="-20"/>
              <a:t> Voice</a:t>
            </a:r>
            <a:endParaRPr sz="1150"/>
          </a:p>
          <a:p>
            <a:pPr marL="134620">
              <a:lnSpc>
                <a:spcPct val="100000"/>
              </a:lnSpc>
              <a:spcBef>
                <a:spcPts val="530"/>
              </a:spcBef>
            </a:pPr>
            <a:r>
              <a:rPr dirty="0"/>
              <a:t>Search</a:t>
            </a:r>
            <a:r>
              <a:rPr dirty="0" spc="-15"/>
              <a:t> </a:t>
            </a:r>
            <a:r>
              <a:rPr dirty="0"/>
              <a:t>flights,</a:t>
            </a:r>
            <a:r>
              <a:rPr dirty="0" spc="-15"/>
              <a:t> </a:t>
            </a:r>
            <a:r>
              <a:rPr dirty="0"/>
              <a:t>gates,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services</a:t>
            </a:r>
            <a:r>
              <a:rPr dirty="0" spc="-10"/>
              <a:t> </a:t>
            </a:r>
            <a:r>
              <a:rPr dirty="0"/>
              <a:t>instantly.</a:t>
            </a:r>
            <a:r>
              <a:rPr dirty="0" spc="-15"/>
              <a:t> </a:t>
            </a:r>
            <a:r>
              <a:rPr dirty="0" spc="-10"/>
              <a:t>Voice-</a:t>
            </a:r>
            <a:r>
              <a:rPr dirty="0"/>
              <a:t>enabled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10"/>
              <a:t>hands-</a:t>
            </a:r>
            <a:r>
              <a:rPr dirty="0"/>
              <a:t>free</a:t>
            </a:r>
            <a:r>
              <a:rPr dirty="0" spc="-10"/>
              <a:t> </a:t>
            </a:r>
            <a:r>
              <a:rPr dirty="0" spc="-20"/>
              <a:t>use.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885"/>
              </a:spcBef>
            </a:pPr>
          </a:p>
          <a:p>
            <a:pPr marL="134620">
              <a:lnSpc>
                <a:spcPct val="100000"/>
              </a:lnSpc>
            </a:pPr>
            <a:r>
              <a:rPr dirty="0" sz="1150"/>
              <a:t>Live</a:t>
            </a:r>
            <a:r>
              <a:rPr dirty="0" sz="1150" spc="-20"/>
              <a:t> </a:t>
            </a:r>
            <a:r>
              <a:rPr dirty="0" sz="1150"/>
              <a:t>Flight</a:t>
            </a:r>
            <a:r>
              <a:rPr dirty="0" sz="1150" spc="-20"/>
              <a:t> </a:t>
            </a:r>
            <a:r>
              <a:rPr dirty="0" sz="1150" spc="-10"/>
              <a:t>Cards</a:t>
            </a:r>
            <a:endParaRPr sz="1150"/>
          </a:p>
          <a:p>
            <a:pPr marL="134620">
              <a:lnSpc>
                <a:spcPct val="100000"/>
              </a:lnSpc>
              <a:spcBef>
                <a:spcPts val="530"/>
              </a:spcBef>
            </a:pPr>
            <a:r>
              <a:rPr dirty="0" spc="-10"/>
              <a:t>Real-</a:t>
            </a:r>
            <a:r>
              <a:rPr dirty="0"/>
              <a:t>time</a:t>
            </a:r>
            <a:r>
              <a:rPr dirty="0" spc="-15"/>
              <a:t> </a:t>
            </a:r>
            <a:r>
              <a:rPr dirty="0"/>
              <a:t>tracking,</a:t>
            </a:r>
            <a:r>
              <a:rPr dirty="0" spc="-15"/>
              <a:t> </a:t>
            </a:r>
            <a:r>
              <a:rPr dirty="0"/>
              <a:t>upcoming</a:t>
            </a:r>
            <a:r>
              <a:rPr dirty="0" spc="-15"/>
              <a:t> </a:t>
            </a:r>
            <a:r>
              <a:rPr dirty="0"/>
              <a:t>departures,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status</a:t>
            </a:r>
            <a:r>
              <a:rPr dirty="0" spc="-15"/>
              <a:t> </a:t>
            </a:r>
            <a:r>
              <a:rPr dirty="0"/>
              <a:t>alerts</a:t>
            </a:r>
            <a:r>
              <a:rPr dirty="0" spc="-15"/>
              <a:t> </a:t>
            </a:r>
            <a:r>
              <a:rPr dirty="0"/>
              <a:t>at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10"/>
              <a:t> glance.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880"/>
              </a:spcBef>
            </a:pPr>
          </a:p>
          <a:p>
            <a:pPr marL="134620">
              <a:lnSpc>
                <a:spcPct val="100000"/>
              </a:lnSpc>
              <a:spcBef>
                <a:spcPts val="5"/>
              </a:spcBef>
            </a:pPr>
            <a:r>
              <a:rPr dirty="0" sz="1150"/>
              <a:t>Navigation</a:t>
            </a:r>
            <a:r>
              <a:rPr dirty="0" sz="1150" spc="-20"/>
              <a:t> </a:t>
            </a:r>
            <a:r>
              <a:rPr dirty="0" sz="1150"/>
              <a:t>&amp;</a:t>
            </a:r>
            <a:r>
              <a:rPr dirty="0" sz="1150" spc="-15"/>
              <a:t> </a:t>
            </a:r>
            <a:r>
              <a:rPr dirty="0" sz="1150"/>
              <a:t>AI</a:t>
            </a:r>
            <a:r>
              <a:rPr dirty="0" sz="1150" spc="-20"/>
              <a:t> </a:t>
            </a:r>
            <a:r>
              <a:rPr dirty="0" sz="1150" spc="-10"/>
              <a:t>Assistant</a:t>
            </a:r>
            <a:endParaRPr sz="1150"/>
          </a:p>
          <a:p>
            <a:pPr marL="134620">
              <a:lnSpc>
                <a:spcPct val="100000"/>
              </a:lnSpc>
              <a:spcBef>
                <a:spcPts val="525"/>
              </a:spcBef>
            </a:pPr>
            <a:r>
              <a:rPr dirty="0"/>
              <a:t>Indoor</a:t>
            </a:r>
            <a:r>
              <a:rPr dirty="0" spc="-15"/>
              <a:t> </a:t>
            </a:r>
            <a:r>
              <a:rPr dirty="0"/>
              <a:t>wayfinding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10"/>
              <a:t>chat-</a:t>
            </a:r>
            <a:r>
              <a:rPr dirty="0"/>
              <a:t>based</a:t>
            </a:r>
            <a:r>
              <a:rPr dirty="0" spc="-15"/>
              <a:t> </a:t>
            </a:r>
            <a:r>
              <a:rPr dirty="0"/>
              <a:t>support</a:t>
            </a:r>
            <a:r>
              <a:rPr dirty="0" spc="-15"/>
              <a:t> </a:t>
            </a:r>
            <a:r>
              <a:rPr dirty="0"/>
              <a:t>accessible</a:t>
            </a:r>
            <a:r>
              <a:rPr dirty="0" spc="-15"/>
              <a:t> </a:t>
            </a:r>
            <a:r>
              <a:rPr dirty="0"/>
              <a:t>directly</a:t>
            </a:r>
            <a:r>
              <a:rPr dirty="0" spc="-15"/>
              <a:t> </a:t>
            </a:r>
            <a:r>
              <a:rPr dirty="0"/>
              <a:t>from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home</a:t>
            </a:r>
            <a:r>
              <a:rPr dirty="0" spc="-15"/>
              <a:t> </a:t>
            </a:r>
            <a:r>
              <a:rPr dirty="0" spc="-10"/>
              <a:t>screen.</a:t>
            </a:r>
          </a:p>
        </p:txBody>
      </p:sp>
      <p:grpSp>
        <p:nvGrpSpPr>
          <p:cNvPr id="16" name="object 16" descr=""/>
          <p:cNvGrpSpPr/>
          <p:nvPr/>
        </p:nvGrpSpPr>
        <p:grpSpPr>
          <a:xfrm>
            <a:off x="408458" y="4064501"/>
            <a:ext cx="4898390" cy="662940"/>
            <a:chOff x="408458" y="4064501"/>
            <a:chExt cx="4898390" cy="662940"/>
          </a:xfrm>
        </p:grpSpPr>
        <p:sp>
          <p:nvSpPr>
            <p:cNvPr id="17" name="object 17" descr=""/>
            <p:cNvSpPr/>
            <p:nvPr/>
          </p:nvSpPr>
          <p:spPr>
            <a:xfrm>
              <a:off x="410839" y="4066882"/>
              <a:ext cx="4893945" cy="657860"/>
            </a:xfrm>
            <a:custGeom>
              <a:avLst/>
              <a:gdLst/>
              <a:ahLst/>
              <a:cxnLst/>
              <a:rect l="l" t="t" r="r" b="b"/>
              <a:pathLst>
                <a:path w="4893945" h="657860">
                  <a:moveTo>
                    <a:pt x="4844008" y="0"/>
                  </a:moveTo>
                  <a:lnTo>
                    <a:pt x="49306" y="0"/>
                  </a:lnTo>
                  <a:lnTo>
                    <a:pt x="30191" y="3901"/>
                  </a:lnTo>
                  <a:lnTo>
                    <a:pt x="14509" y="14511"/>
                  </a:lnTo>
                  <a:lnTo>
                    <a:pt x="3900" y="30191"/>
                  </a:lnTo>
                  <a:lnTo>
                    <a:pt x="0" y="49301"/>
                  </a:lnTo>
                  <a:lnTo>
                    <a:pt x="0" y="608291"/>
                  </a:lnTo>
                  <a:lnTo>
                    <a:pt x="3900" y="627407"/>
                  </a:lnTo>
                  <a:lnTo>
                    <a:pt x="14509" y="643086"/>
                  </a:lnTo>
                  <a:lnTo>
                    <a:pt x="30191" y="653694"/>
                  </a:lnTo>
                  <a:lnTo>
                    <a:pt x="49306" y="657593"/>
                  </a:lnTo>
                  <a:lnTo>
                    <a:pt x="4844008" y="657593"/>
                  </a:lnTo>
                  <a:lnTo>
                    <a:pt x="4863126" y="653694"/>
                  </a:lnTo>
                  <a:lnTo>
                    <a:pt x="4878809" y="643086"/>
                  </a:lnTo>
                  <a:lnTo>
                    <a:pt x="4889421" y="627407"/>
                  </a:lnTo>
                  <a:lnTo>
                    <a:pt x="4893322" y="608291"/>
                  </a:lnTo>
                  <a:lnTo>
                    <a:pt x="4893322" y="49301"/>
                  </a:lnTo>
                  <a:lnTo>
                    <a:pt x="4889421" y="30191"/>
                  </a:lnTo>
                  <a:lnTo>
                    <a:pt x="4878809" y="14511"/>
                  </a:lnTo>
                  <a:lnTo>
                    <a:pt x="4863126" y="3901"/>
                  </a:lnTo>
                  <a:lnTo>
                    <a:pt x="4844008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10839" y="4066882"/>
              <a:ext cx="4893945" cy="657860"/>
            </a:xfrm>
            <a:custGeom>
              <a:avLst/>
              <a:gdLst/>
              <a:ahLst/>
              <a:cxnLst/>
              <a:rect l="l" t="t" r="r" b="b"/>
              <a:pathLst>
                <a:path w="4893945" h="657860">
                  <a:moveTo>
                    <a:pt x="0" y="49301"/>
                  </a:moveTo>
                  <a:lnTo>
                    <a:pt x="3900" y="30191"/>
                  </a:lnTo>
                  <a:lnTo>
                    <a:pt x="14509" y="14511"/>
                  </a:lnTo>
                  <a:lnTo>
                    <a:pt x="30191" y="3901"/>
                  </a:lnTo>
                  <a:lnTo>
                    <a:pt x="49306" y="0"/>
                  </a:lnTo>
                  <a:lnTo>
                    <a:pt x="4844008" y="0"/>
                  </a:lnTo>
                  <a:lnTo>
                    <a:pt x="4863126" y="3901"/>
                  </a:lnTo>
                  <a:lnTo>
                    <a:pt x="4878809" y="14511"/>
                  </a:lnTo>
                  <a:lnTo>
                    <a:pt x="4889421" y="30191"/>
                  </a:lnTo>
                  <a:lnTo>
                    <a:pt x="4893322" y="49301"/>
                  </a:lnTo>
                  <a:lnTo>
                    <a:pt x="4893322" y="608291"/>
                  </a:lnTo>
                  <a:lnTo>
                    <a:pt x="4889421" y="627407"/>
                  </a:lnTo>
                  <a:lnTo>
                    <a:pt x="4878809" y="643086"/>
                  </a:lnTo>
                  <a:lnTo>
                    <a:pt x="4863126" y="653694"/>
                  </a:lnTo>
                  <a:lnTo>
                    <a:pt x="4844008" y="657593"/>
                  </a:lnTo>
                  <a:lnTo>
                    <a:pt x="49306" y="657593"/>
                  </a:lnTo>
                  <a:lnTo>
                    <a:pt x="30191" y="653694"/>
                  </a:lnTo>
                  <a:lnTo>
                    <a:pt x="14509" y="643086"/>
                  </a:lnTo>
                  <a:lnTo>
                    <a:pt x="3900" y="627407"/>
                  </a:lnTo>
                  <a:lnTo>
                    <a:pt x="0" y="608291"/>
                  </a:lnTo>
                  <a:lnTo>
                    <a:pt x="0" y="49301"/>
                  </a:lnTo>
                  <a:close/>
                </a:path>
              </a:pathLst>
            </a:custGeom>
            <a:ln w="4762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520254" y="4087459"/>
            <a:ext cx="4240530" cy="49085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150">
                <a:solidFill>
                  <a:srgbClr val="404154"/>
                </a:solidFill>
                <a:latin typeface="Arial"/>
                <a:cs typeface="Arial"/>
              </a:rPr>
              <a:t>Services &amp; </a:t>
            </a:r>
            <a:r>
              <a:rPr dirty="0" sz="1150" spc="-10">
                <a:solidFill>
                  <a:srgbClr val="404154"/>
                </a:solidFill>
                <a:latin typeface="Arial"/>
                <a:cs typeface="Arial"/>
              </a:rPr>
              <a:t>Notifications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900">
                <a:solidFill>
                  <a:srgbClr val="404154"/>
                </a:solidFill>
                <a:latin typeface="Arial"/>
                <a:cs typeface="Arial"/>
              </a:rPr>
              <a:t>Nearby</a:t>
            </a:r>
            <a:r>
              <a:rPr dirty="0" sz="9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04154"/>
                </a:solidFill>
                <a:latin typeface="Arial"/>
                <a:cs typeface="Arial"/>
              </a:rPr>
              <a:t>lounges,</a:t>
            </a:r>
            <a:r>
              <a:rPr dirty="0" sz="9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04154"/>
                </a:solidFill>
                <a:latin typeface="Arial"/>
                <a:cs typeface="Arial"/>
              </a:rPr>
              <a:t>restaurants,</a:t>
            </a:r>
            <a:r>
              <a:rPr dirty="0" sz="9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9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04154"/>
                </a:solidFill>
                <a:latin typeface="Arial"/>
                <a:cs typeface="Arial"/>
              </a:rPr>
              <a:t>ATMs</a:t>
            </a:r>
            <a:r>
              <a:rPr dirty="0" sz="9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04154"/>
                </a:solidFill>
                <a:latin typeface="Arial"/>
                <a:cs typeface="Arial"/>
              </a:rPr>
              <a:t>—</a:t>
            </a:r>
            <a:r>
              <a:rPr dirty="0" sz="900" spc="-1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04154"/>
                </a:solidFill>
                <a:latin typeface="Arial"/>
                <a:cs typeface="Arial"/>
              </a:rPr>
              <a:t>plus</a:t>
            </a:r>
            <a:r>
              <a:rPr dirty="0" sz="9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04154"/>
                </a:solidFill>
                <a:latin typeface="Arial"/>
                <a:cs typeface="Arial"/>
              </a:rPr>
              <a:t>a</a:t>
            </a:r>
            <a:r>
              <a:rPr dirty="0" sz="9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04154"/>
                </a:solidFill>
                <a:latin typeface="Arial"/>
                <a:cs typeface="Arial"/>
              </a:rPr>
              <a:t>live</a:t>
            </a:r>
            <a:r>
              <a:rPr dirty="0" sz="9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04154"/>
                </a:solidFill>
                <a:latin typeface="Arial"/>
                <a:cs typeface="Arial"/>
              </a:rPr>
              <a:t>alert</a:t>
            </a:r>
            <a:r>
              <a:rPr dirty="0" sz="9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04154"/>
                </a:solidFill>
                <a:latin typeface="Arial"/>
                <a:cs typeface="Arial"/>
              </a:rPr>
              <a:t>center</a:t>
            </a:r>
            <a:r>
              <a:rPr dirty="0" sz="9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04154"/>
                </a:solidFill>
                <a:latin typeface="Arial"/>
                <a:cs typeface="Arial"/>
              </a:rPr>
              <a:t>for</a:t>
            </a:r>
            <a:r>
              <a:rPr dirty="0" sz="900" spc="-1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04154"/>
                </a:solidFill>
                <a:latin typeface="Arial"/>
                <a:cs typeface="Arial"/>
              </a:rPr>
              <a:t>flight</a:t>
            </a:r>
            <a:r>
              <a:rPr dirty="0" sz="9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404154"/>
                </a:solidFill>
                <a:latin typeface="Arial"/>
                <a:cs typeface="Arial"/>
              </a:rPr>
              <a:t>updates.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2901" y="407193"/>
            <a:ext cx="1014094" cy="259715"/>
          </a:xfrm>
          <a:prstGeom prst="rect">
            <a:avLst/>
          </a:prstGeom>
          <a:ln w="4762">
            <a:solidFill>
              <a:srgbClr val="4867E9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335"/>
              </a:spcBef>
            </a:pPr>
            <a:r>
              <a:rPr dirty="0" sz="850">
                <a:solidFill>
                  <a:srgbClr val="4867E9"/>
                </a:solidFill>
                <a:latin typeface="Arial"/>
                <a:cs typeface="Arial"/>
              </a:rPr>
              <a:t>CORE</a:t>
            </a:r>
            <a:r>
              <a:rPr dirty="0" sz="850" spc="-15">
                <a:solidFill>
                  <a:srgbClr val="4867E9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867E9"/>
                </a:solidFill>
                <a:latin typeface="Arial"/>
                <a:cs typeface="Arial"/>
              </a:rPr>
              <a:t>MODULES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/>
              <a:t>Flight</a:t>
            </a:r>
            <a:r>
              <a:rPr dirty="0" sz="2650" spc="-65"/>
              <a:t> </a:t>
            </a:r>
            <a:r>
              <a:rPr dirty="0" sz="2650"/>
              <a:t>Tracking</a:t>
            </a:r>
            <a:r>
              <a:rPr dirty="0" sz="2650" spc="-65"/>
              <a:t> </a:t>
            </a:r>
            <a:r>
              <a:rPr dirty="0" sz="2650"/>
              <a:t>&amp;</a:t>
            </a:r>
            <a:r>
              <a:rPr dirty="0" sz="2650" spc="-60"/>
              <a:t> </a:t>
            </a:r>
            <a:r>
              <a:rPr dirty="0" sz="2650"/>
              <a:t>Smart</a:t>
            </a:r>
            <a:r>
              <a:rPr dirty="0" sz="2650" spc="-65"/>
              <a:t> </a:t>
            </a:r>
            <a:r>
              <a:rPr dirty="0" sz="2650" spc="-10"/>
              <a:t>Navigation</a:t>
            </a:r>
            <a:endParaRPr sz="265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901" y="1557782"/>
            <a:ext cx="5213451" cy="295423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008065" y="1446123"/>
            <a:ext cx="2521585" cy="1150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>
                <a:solidFill>
                  <a:srgbClr val="1B1B27"/>
                </a:solidFill>
                <a:latin typeface="Arial"/>
                <a:cs typeface="Arial"/>
              </a:rPr>
              <a:t>Real-</a:t>
            </a:r>
            <a:r>
              <a:rPr dirty="0" sz="1300">
                <a:solidFill>
                  <a:srgbClr val="1B1B27"/>
                </a:solidFill>
                <a:latin typeface="Arial"/>
                <a:cs typeface="Arial"/>
              </a:rPr>
              <a:t>Time</a:t>
            </a:r>
            <a:r>
              <a:rPr dirty="0" sz="1300" spc="-25">
                <a:solidFill>
                  <a:srgbClr val="1B1B27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B1B27"/>
                </a:solidFill>
                <a:latin typeface="Arial"/>
                <a:cs typeface="Arial"/>
              </a:rPr>
              <a:t>Flight</a:t>
            </a:r>
            <a:r>
              <a:rPr dirty="0" sz="1300" spc="-25">
                <a:solidFill>
                  <a:srgbClr val="1B1B27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B1B27"/>
                </a:solidFill>
                <a:latin typeface="Arial"/>
                <a:cs typeface="Arial"/>
              </a:rPr>
              <a:t>Tracking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30000"/>
              </a:lnSpc>
              <a:spcBef>
                <a:spcPts val="740"/>
              </a:spcBef>
            </a:pP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Live</a:t>
            </a:r>
            <a:r>
              <a:rPr dirty="0" sz="105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departure</a:t>
            </a:r>
            <a:r>
              <a:rPr dirty="0" sz="10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105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arrival</a:t>
            </a:r>
            <a:r>
              <a:rPr dirty="0" sz="10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monitoring</a:t>
            </a:r>
            <a:r>
              <a:rPr dirty="0" sz="105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404154"/>
                </a:solidFill>
                <a:latin typeface="Arial"/>
                <a:cs typeface="Arial"/>
              </a:rPr>
              <a:t>with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filters</a:t>
            </a:r>
            <a:r>
              <a:rPr dirty="0" sz="10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for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all,</a:t>
            </a:r>
            <a:r>
              <a:rPr dirty="0" sz="10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delayed,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10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boarding flights.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Dynamic</a:t>
            </a:r>
            <a:r>
              <a:rPr dirty="0" sz="10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status</a:t>
            </a:r>
            <a:r>
              <a:rPr dirty="0" sz="10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indicators</a:t>
            </a:r>
            <a:r>
              <a:rPr dirty="0" sz="10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105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404154"/>
                </a:solidFill>
                <a:latin typeface="Arial"/>
                <a:cs typeface="Arial"/>
              </a:rPr>
              <a:t>gate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information</a:t>
            </a:r>
            <a:r>
              <a:rPr dirty="0" sz="10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keep</a:t>
            </a:r>
            <a:r>
              <a:rPr dirty="0" sz="10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passengers</a:t>
            </a:r>
            <a:r>
              <a:rPr dirty="0" sz="105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informed.</a:t>
            </a:r>
            <a:endParaRPr sz="105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6020765" y="3036316"/>
            <a:ext cx="2655570" cy="10160"/>
          </a:xfrm>
          <a:custGeom>
            <a:avLst/>
            <a:gdLst/>
            <a:ahLst/>
            <a:cxnLst/>
            <a:rect l="l" t="t" r="r" b="b"/>
            <a:pathLst>
              <a:path w="2655570" h="10160">
                <a:moveTo>
                  <a:pt x="2655100" y="0"/>
                </a:moveTo>
                <a:lnTo>
                  <a:pt x="0" y="0"/>
                </a:lnTo>
                <a:lnTo>
                  <a:pt x="0" y="10121"/>
                </a:lnTo>
                <a:lnTo>
                  <a:pt x="2655100" y="10121"/>
                </a:lnTo>
                <a:lnTo>
                  <a:pt x="2655100" y="0"/>
                </a:lnTo>
                <a:close/>
              </a:path>
            </a:pathLst>
          </a:custGeom>
          <a:solidFill>
            <a:srgbClr val="404154">
              <a:alpha val="4980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008065" y="3208832"/>
            <a:ext cx="2633345" cy="1358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1B1B27"/>
                </a:solidFill>
                <a:latin typeface="Arial"/>
                <a:cs typeface="Arial"/>
              </a:rPr>
              <a:t>Smart</a:t>
            </a:r>
            <a:r>
              <a:rPr dirty="0" sz="1300" spc="-40">
                <a:solidFill>
                  <a:srgbClr val="1B1B27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B1B27"/>
                </a:solidFill>
                <a:latin typeface="Arial"/>
                <a:cs typeface="Arial"/>
              </a:rPr>
              <a:t>Indoor</a:t>
            </a:r>
            <a:r>
              <a:rPr dirty="0" sz="1300" spc="-40">
                <a:solidFill>
                  <a:srgbClr val="1B1B27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B1B27"/>
                </a:solidFill>
                <a:latin typeface="Arial"/>
                <a:cs typeface="Arial"/>
              </a:rPr>
              <a:t>Navigation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30000"/>
              </a:lnSpc>
              <a:spcBef>
                <a:spcPts val="740"/>
              </a:spcBef>
            </a:pP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Interactive</a:t>
            </a:r>
            <a:r>
              <a:rPr dirty="0" sz="10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floor</a:t>
            </a:r>
            <a:r>
              <a:rPr dirty="0" sz="10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maps</a:t>
            </a:r>
            <a:r>
              <a:rPr dirty="0" sz="10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with</a:t>
            </a:r>
            <a:r>
              <a:rPr dirty="0" sz="10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multi-level support,</a:t>
            </a:r>
            <a:r>
              <a:rPr dirty="0" sz="10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route</a:t>
            </a:r>
            <a:r>
              <a:rPr dirty="0" sz="10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optimization,</a:t>
            </a:r>
            <a:r>
              <a:rPr dirty="0" sz="10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 estimated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travel</a:t>
            </a:r>
            <a:r>
              <a:rPr dirty="0" sz="10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time.</a:t>
            </a:r>
            <a:r>
              <a:rPr dirty="0" sz="10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A</a:t>
            </a:r>
            <a:r>
              <a:rPr dirty="0" sz="105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3D</a:t>
            </a:r>
            <a:r>
              <a:rPr dirty="0" sz="10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view</a:t>
            </a:r>
            <a:r>
              <a:rPr dirty="0" sz="105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mode</a:t>
            </a:r>
            <a:r>
              <a:rPr dirty="0" sz="10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105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waypoints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list</a:t>
            </a:r>
            <a:r>
              <a:rPr dirty="0" sz="1050" spc="-4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guide</a:t>
            </a:r>
            <a:r>
              <a:rPr dirty="0" sz="105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passengers</a:t>
            </a:r>
            <a:r>
              <a:rPr dirty="0" sz="105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through</a:t>
            </a:r>
            <a:r>
              <a:rPr dirty="0" sz="1050" spc="-4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security,</a:t>
            </a:r>
            <a:r>
              <a:rPr dirty="0" sz="105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duty-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free,</a:t>
            </a:r>
            <a:r>
              <a:rPr dirty="0" sz="105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105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beyond.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2901" y="407193"/>
            <a:ext cx="1014094" cy="259715"/>
          </a:xfrm>
          <a:prstGeom prst="rect">
            <a:avLst/>
          </a:prstGeom>
          <a:ln w="4762">
            <a:solidFill>
              <a:srgbClr val="4867E9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335"/>
              </a:spcBef>
            </a:pPr>
            <a:r>
              <a:rPr dirty="0" sz="850">
                <a:solidFill>
                  <a:srgbClr val="4867E9"/>
                </a:solidFill>
                <a:latin typeface="Arial"/>
                <a:cs typeface="Arial"/>
              </a:rPr>
              <a:t>CORE</a:t>
            </a:r>
            <a:r>
              <a:rPr dirty="0" sz="850" spc="-15">
                <a:solidFill>
                  <a:srgbClr val="4867E9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867E9"/>
                </a:solidFill>
                <a:latin typeface="Arial"/>
                <a:cs typeface="Arial"/>
              </a:rPr>
              <a:t>MODULES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/>
              <a:t>Nearby</a:t>
            </a:r>
            <a:r>
              <a:rPr dirty="0" sz="2650" spc="-70"/>
              <a:t> </a:t>
            </a:r>
            <a:r>
              <a:rPr dirty="0" sz="2650"/>
              <a:t>Services</a:t>
            </a:r>
            <a:r>
              <a:rPr dirty="0" sz="2650" spc="-65"/>
              <a:t> </a:t>
            </a:r>
            <a:r>
              <a:rPr dirty="0" sz="2650"/>
              <a:t>&amp;</a:t>
            </a:r>
            <a:r>
              <a:rPr dirty="0" sz="2650" spc="-65"/>
              <a:t> </a:t>
            </a:r>
            <a:r>
              <a:rPr dirty="0" sz="2650"/>
              <a:t>Crowd</a:t>
            </a:r>
            <a:r>
              <a:rPr dirty="0" sz="2650" spc="-70"/>
              <a:t> </a:t>
            </a:r>
            <a:r>
              <a:rPr dirty="0" sz="2650" spc="-10"/>
              <a:t>Analytics</a:t>
            </a:r>
            <a:endParaRPr sz="265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901" y="1557782"/>
            <a:ext cx="5213451" cy="295423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008065" y="1446123"/>
            <a:ext cx="2597150" cy="1150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1B1B27"/>
                </a:solidFill>
                <a:latin typeface="Arial"/>
                <a:cs typeface="Arial"/>
              </a:rPr>
              <a:t>Nearby</a:t>
            </a:r>
            <a:r>
              <a:rPr dirty="0" sz="1300" spc="-45">
                <a:solidFill>
                  <a:srgbClr val="1B1B27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B1B27"/>
                </a:solidFill>
                <a:latin typeface="Arial"/>
                <a:cs typeface="Arial"/>
              </a:rPr>
              <a:t>Services</a:t>
            </a:r>
            <a:r>
              <a:rPr dirty="0" sz="1300" spc="-40">
                <a:solidFill>
                  <a:srgbClr val="1B1B27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B1B27"/>
                </a:solidFill>
                <a:latin typeface="Arial"/>
                <a:cs typeface="Arial"/>
              </a:rPr>
              <a:t>Locator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30000"/>
              </a:lnSpc>
              <a:spcBef>
                <a:spcPts val="740"/>
              </a:spcBef>
            </a:pP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Discover</a:t>
            </a:r>
            <a:r>
              <a:rPr dirty="0" sz="10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lounges, restaurants,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ATMs,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404154"/>
                </a:solidFill>
                <a:latin typeface="Arial"/>
                <a:cs typeface="Arial"/>
              </a:rPr>
              <a:t>and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shops</a:t>
            </a:r>
            <a:r>
              <a:rPr dirty="0" sz="105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with</a:t>
            </a:r>
            <a:r>
              <a:rPr dirty="0" sz="10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category</a:t>
            </a:r>
            <a:r>
              <a:rPr dirty="0" sz="10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filters</a:t>
            </a:r>
            <a:r>
              <a:rPr dirty="0" sz="10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10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walking-</a:t>
            </a:r>
            <a:r>
              <a:rPr dirty="0" sz="1050" spc="-20">
                <a:solidFill>
                  <a:srgbClr val="404154"/>
                </a:solidFill>
                <a:latin typeface="Arial"/>
                <a:cs typeface="Arial"/>
              </a:rPr>
              <a:t>time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estimates.</a:t>
            </a:r>
            <a:r>
              <a:rPr dirty="0" sz="1050" spc="-4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Voice</a:t>
            </a:r>
            <a:r>
              <a:rPr dirty="0" sz="105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search</a:t>
            </a:r>
            <a:r>
              <a:rPr dirty="0" sz="1050" spc="-4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support</a:t>
            </a:r>
            <a:r>
              <a:rPr dirty="0" sz="105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makes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finding</a:t>
            </a:r>
            <a:r>
              <a:rPr dirty="0" sz="1050" spc="-5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facilities</a:t>
            </a:r>
            <a:r>
              <a:rPr dirty="0" sz="1050" spc="-5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effortless.</a:t>
            </a:r>
            <a:endParaRPr sz="105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6020765" y="3036316"/>
            <a:ext cx="2655570" cy="10160"/>
          </a:xfrm>
          <a:custGeom>
            <a:avLst/>
            <a:gdLst/>
            <a:ahLst/>
            <a:cxnLst/>
            <a:rect l="l" t="t" r="r" b="b"/>
            <a:pathLst>
              <a:path w="2655570" h="10160">
                <a:moveTo>
                  <a:pt x="2655100" y="0"/>
                </a:moveTo>
                <a:lnTo>
                  <a:pt x="0" y="0"/>
                </a:lnTo>
                <a:lnTo>
                  <a:pt x="0" y="10121"/>
                </a:lnTo>
                <a:lnTo>
                  <a:pt x="2655100" y="10121"/>
                </a:lnTo>
                <a:lnTo>
                  <a:pt x="2655100" y="0"/>
                </a:lnTo>
                <a:close/>
              </a:path>
            </a:pathLst>
          </a:custGeom>
          <a:solidFill>
            <a:srgbClr val="404154">
              <a:alpha val="4980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008065" y="3208832"/>
            <a:ext cx="2559685" cy="1358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1B1B27"/>
                </a:solidFill>
                <a:latin typeface="Arial"/>
                <a:cs typeface="Arial"/>
              </a:rPr>
              <a:t>Crowd</a:t>
            </a:r>
            <a:r>
              <a:rPr dirty="0" sz="1300" spc="-60">
                <a:solidFill>
                  <a:srgbClr val="1B1B27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B1B27"/>
                </a:solidFill>
                <a:latin typeface="Arial"/>
                <a:cs typeface="Arial"/>
              </a:rPr>
              <a:t>Density</a:t>
            </a:r>
            <a:r>
              <a:rPr dirty="0" sz="1300" spc="-60">
                <a:solidFill>
                  <a:srgbClr val="1B1B27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B1B27"/>
                </a:solidFill>
                <a:latin typeface="Arial"/>
                <a:cs typeface="Arial"/>
              </a:rPr>
              <a:t>Analytics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30000"/>
              </a:lnSpc>
              <a:spcBef>
                <a:spcPts val="740"/>
              </a:spcBef>
            </a:pPr>
            <a:r>
              <a:rPr dirty="0" sz="1050" spc="-20">
                <a:solidFill>
                  <a:srgbClr val="404154"/>
                </a:solidFill>
                <a:latin typeface="Arial"/>
                <a:cs typeface="Arial"/>
              </a:rPr>
              <a:t>Real-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time</a:t>
            </a:r>
            <a:r>
              <a:rPr dirty="0" sz="10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heatmap</a:t>
            </a:r>
            <a:r>
              <a:rPr dirty="0" sz="10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visualization</a:t>
            </a:r>
            <a:r>
              <a:rPr dirty="0" sz="10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with</a:t>
            </a:r>
            <a:r>
              <a:rPr dirty="0" sz="10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color-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coded</a:t>
            </a:r>
            <a:r>
              <a:rPr dirty="0" sz="105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congestion</a:t>
            </a:r>
            <a:r>
              <a:rPr dirty="0" sz="10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levels</a:t>
            </a:r>
            <a:r>
              <a:rPr dirty="0" sz="105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—</a:t>
            </a:r>
            <a:r>
              <a:rPr dirty="0" sz="10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Low,</a:t>
            </a:r>
            <a:r>
              <a:rPr dirty="0" sz="10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Medium,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10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High.</a:t>
            </a:r>
            <a:r>
              <a:rPr dirty="0" sz="10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Live</a:t>
            </a:r>
            <a:r>
              <a:rPr dirty="0" sz="105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terminal</a:t>
            </a:r>
            <a:r>
              <a:rPr dirty="0" sz="10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analytics</a:t>
            </a:r>
            <a:r>
              <a:rPr dirty="0" sz="10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404154"/>
                </a:solidFill>
                <a:latin typeface="Arial"/>
                <a:cs typeface="Arial"/>
              </a:rPr>
              <a:t>help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passengers</a:t>
            </a:r>
            <a:r>
              <a:rPr dirty="0" sz="1050" spc="-5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avoid</a:t>
            </a:r>
            <a:r>
              <a:rPr dirty="0" sz="1050" spc="-4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crowded</a:t>
            </a:r>
            <a:r>
              <a:rPr dirty="0" sz="1050" spc="-4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zones</a:t>
            </a:r>
            <a:r>
              <a:rPr dirty="0" sz="1050" spc="-4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1050" spc="-4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404154"/>
                </a:solidFill>
                <a:latin typeface="Arial"/>
                <a:cs typeface="Arial"/>
              </a:rPr>
              <a:t>plan </a:t>
            </a: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smoother</a:t>
            </a:r>
            <a:r>
              <a:rPr dirty="0" sz="1050" spc="-4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routes.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96119" y="780901"/>
            <a:ext cx="1062990" cy="276225"/>
          </a:xfrm>
          <a:custGeom>
            <a:avLst/>
            <a:gdLst/>
            <a:ahLst/>
            <a:cxnLst/>
            <a:rect l="l" t="t" r="r" b="b"/>
            <a:pathLst>
              <a:path w="1062990" h="276225">
                <a:moveTo>
                  <a:pt x="0" y="47637"/>
                </a:moveTo>
                <a:lnTo>
                  <a:pt x="3768" y="29167"/>
                </a:lnTo>
                <a:lnTo>
                  <a:pt x="14017" y="14017"/>
                </a:lnTo>
                <a:lnTo>
                  <a:pt x="29166" y="3767"/>
                </a:lnTo>
                <a:lnTo>
                  <a:pt x="47633" y="0"/>
                </a:lnTo>
                <a:lnTo>
                  <a:pt x="1015296" y="0"/>
                </a:lnTo>
                <a:lnTo>
                  <a:pt x="1033763" y="3767"/>
                </a:lnTo>
                <a:lnTo>
                  <a:pt x="1048912" y="14017"/>
                </a:lnTo>
                <a:lnTo>
                  <a:pt x="1059162" y="29167"/>
                </a:lnTo>
                <a:lnTo>
                  <a:pt x="1062930" y="47637"/>
                </a:lnTo>
                <a:lnTo>
                  <a:pt x="1062930" y="228295"/>
                </a:lnTo>
                <a:lnTo>
                  <a:pt x="1059162" y="246757"/>
                </a:lnTo>
                <a:lnTo>
                  <a:pt x="1048912" y="261904"/>
                </a:lnTo>
                <a:lnTo>
                  <a:pt x="1033763" y="272152"/>
                </a:lnTo>
                <a:lnTo>
                  <a:pt x="1015296" y="275920"/>
                </a:lnTo>
                <a:lnTo>
                  <a:pt x="47633" y="275920"/>
                </a:lnTo>
                <a:lnTo>
                  <a:pt x="29166" y="272152"/>
                </a:lnTo>
                <a:lnTo>
                  <a:pt x="14017" y="261904"/>
                </a:lnTo>
                <a:lnTo>
                  <a:pt x="3768" y="246757"/>
                </a:lnTo>
                <a:lnTo>
                  <a:pt x="0" y="228295"/>
                </a:lnTo>
                <a:lnTo>
                  <a:pt x="0" y="47637"/>
                </a:lnTo>
                <a:close/>
              </a:path>
            </a:pathLst>
          </a:custGeom>
          <a:ln w="4762">
            <a:solidFill>
              <a:srgbClr val="4867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3236" y="813168"/>
            <a:ext cx="90043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4867E9"/>
                </a:solidFill>
                <a:latin typeface="Arial"/>
                <a:cs typeface="Arial"/>
              </a:rPr>
              <a:t>CORE</a:t>
            </a:r>
            <a:r>
              <a:rPr dirty="0" sz="850" spc="-15">
                <a:solidFill>
                  <a:srgbClr val="4867E9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867E9"/>
                </a:solidFill>
                <a:latin typeface="Arial"/>
                <a:cs typeface="Arial"/>
              </a:rPr>
              <a:t>MODULES</a:t>
            </a:r>
            <a:endParaRPr sz="8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3419" y="1093440"/>
            <a:ext cx="4118610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/>
              <a:t>AI</a:t>
            </a:r>
            <a:r>
              <a:rPr dirty="0" sz="2750" spc="-25"/>
              <a:t> </a:t>
            </a:r>
            <a:r>
              <a:rPr dirty="0" sz="2750"/>
              <a:t>Assistant</a:t>
            </a:r>
            <a:r>
              <a:rPr dirty="0" sz="2750" spc="-20"/>
              <a:t> </a:t>
            </a:r>
            <a:r>
              <a:rPr dirty="0" sz="2750"/>
              <a:t>&amp;</a:t>
            </a:r>
            <a:r>
              <a:rPr dirty="0" sz="2750" spc="-20"/>
              <a:t> </a:t>
            </a:r>
            <a:r>
              <a:rPr dirty="0" sz="2750"/>
              <a:t>User</a:t>
            </a:r>
            <a:r>
              <a:rPr dirty="0" sz="2750" spc="-25"/>
              <a:t> </a:t>
            </a:r>
            <a:r>
              <a:rPr dirty="0" sz="2750" spc="-10"/>
              <a:t>Profile</a:t>
            </a:r>
            <a:endParaRPr sz="2750"/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119" y="1769122"/>
            <a:ext cx="2312568" cy="142927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83419" y="3359239"/>
            <a:ext cx="3937635" cy="94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404154"/>
                </a:solidFill>
                <a:latin typeface="Arial"/>
                <a:cs typeface="Arial"/>
              </a:rPr>
              <a:t>AI-</a:t>
            </a:r>
            <a:r>
              <a:rPr dirty="0" sz="1350">
                <a:solidFill>
                  <a:srgbClr val="404154"/>
                </a:solidFill>
                <a:latin typeface="Arial"/>
                <a:cs typeface="Arial"/>
              </a:rPr>
              <a:t>Powered Passenger </a:t>
            </a:r>
            <a:r>
              <a:rPr dirty="0" sz="1350" spc="-10">
                <a:solidFill>
                  <a:srgbClr val="404154"/>
                </a:solidFill>
                <a:latin typeface="Arial"/>
                <a:cs typeface="Arial"/>
              </a:rPr>
              <a:t>Assistant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Ask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questions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in</a:t>
            </a:r>
            <a:r>
              <a:rPr dirty="0" sz="11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natural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language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or</a:t>
            </a:r>
            <a:r>
              <a:rPr dirty="0" sz="11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by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voice.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Receives</a:t>
            </a:r>
            <a:r>
              <a:rPr dirty="0" sz="11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instant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responses</a:t>
            </a:r>
            <a:r>
              <a:rPr dirty="0" sz="11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on</a:t>
            </a:r>
            <a:r>
              <a:rPr dirty="0" sz="11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flights,</a:t>
            </a:r>
            <a:r>
              <a:rPr dirty="0" sz="11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navigation,</a:t>
            </a:r>
            <a:r>
              <a:rPr dirty="0" sz="11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11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nearby</a:t>
            </a:r>
            <a:r>
              <a:rPr dirty="0" sz="11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services</a:t>
            </a:r>
            <a:r>
              <a:rPr dirty="0" sz="11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404154"/>
                </a:solidFill>
                <a:latin typeface="Arial"/>
                <a:cs typeface="Arial"/>
              </a:rPr>
              <a:t>—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personalized</a:t>
            </a:r>
            <a:r>
              <a:rPr dirty="0" sz="11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to</a:t>
            </a:r>
            <a:r>
              <a:rPr dirty="0" sz="11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each</a:t>
            </a:r>
            <a:r>
              <a:rPr dirty="0" sz="11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traveler.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0556" y="1769122"/>
            <a:ext cx="2312644" cy="142927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647856" y="3359239"/>
            <a:ext cx="3968115" cy="94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404154"/>
                </a:solidFill>
                <a:latin typeface="Arial"/>
                <a:cs typeface="Arial"/>
              </a:rPr>
              <a:t>User</a:t>
            </a:r>
            <a:r>
              <a:rPr dirty="0" sz="13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404154"/>
                </a:solidFill>
                <a:latin typeface="Arial"/>
                <a:cs typeface="Arial"/>
              </a:rPr>
              <a:t>Profile</a:t>
            </a:r>
            <a:r>
              <a:rPr dirty="0" sz="1350" spc="-1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404154"/>
                </a:solidFill>
                <a:latin typeface="Arial"/>
                <a:cs typeface="Arial"/>
              </a:rPr>
              <a:t>&amp;</a:t>
            </a:r>
            <a:r>
              <a:rPr dirty="0" sz="13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404154"/>
                </a:solidFill>
                <a:latin typeface="Arial"/>
                <a:cs typeface="Arial"/>
              </a:rPr>
              <a:t>Travel</a:t>
            </a:r>
            <a:r>
              <a:rPr dirty="0" sz="1350" spc="-10">
                <a:solidFill>
                  <a:srgbClr val="404154"/>
                </a:solidFill>
                <a:latin typeface="Arial"/>
                <a:cs typeface="Arial"/>
              </a:rPr>
              <a:t> Management</a:t>
            </a:r>
            <a:endParaRPr sz="1350">
              <a:latin typeface="Arial"/>
              <a:cs typeface="Arial"/>
            </a:endParaRPr>
          </a:p>
          <a:p>
            <a:pPr algn="just"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Manage</a:t>
            </a:r>
            <a:r>
              <a:rPr dirty="0" sz="11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traveler</a:t>
            </a:r>
            <a:r>
              <a:rPr dirty="0" sz="11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info,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view</a:t>
            </a:r>
            <a:r>
              <a:rPr dirty="0" sz="11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flight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history,</a:t>
            </a:r>
            <a:r>
              <a:rPr dirty="0" sz="11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track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loyalty</a:t>
            </a:r>
            <a:r>
              <a:rPr dirty="0" sz="11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miles,</a:t>
            </a:r>
            <a:r>
              <a:rPr dirty="0" sz="11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04154"/>
                </a:solidFill>
                <a:latin typeface="Arial"/>
                <a:cs typeface="Arial"/>
              </a:rPr>
              <a:t>and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personalize</a:t>
            </a:r>
            <a:r>
              <a:rPr dirty="0" sz="11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notification</a:t>
            </a:r>
            <a:r>
              <a:rPr dirty="0" sz="11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settings.</a:t>
            </a:r>
            <a:r>
              <a:rPr dirty="0" sz="11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Secure</a:t>
            </a:r>
            <a:r>
              <a:rPr dirty="0" sz="11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logout</a:t>
            </a:r>
            <a:r>
              <a:rPr dirty="0" sz="11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04154"/>
                </a:solidFill>
                <a:latin typeface="Arial"/>
                <a:cs typeface="Arial"/>
              </a:rPr>
              <a:t>ensures</a:t>
            </a:r>
            <a:r>
              <a:rPr dirty="0" sz="11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04154"/>
                </a:solidFill>
                <a:latin typeface="Arial"/>
                <a:cs typeface="Arial"/>
              </a:rPr>
              <a:t>account safety.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27336" y="355178"/>
            <a:ext cx="947419" cy="197485"/>
          </a:xfrm>
          <a:custGeom>
            <a:avLst/>
            <a:gdLst/>
            <a:ahLst/>
            <a:cxnLst/>
            <a:rect l="l" t="t" r="r" b="b"/>
            <a:pathLst>
              <a:path w="947419" h="197484">
                <a:moveTo>
                  <a:pt x="0" y="36474"/>
                </a:moveTo>
                <a:lnTo>
                  <a:pt x="2884" y="22331"/>
                </a:lnTo>
                <a:lnTo>
                  <a:pt x="10732" y="10731"/>
                </a:lnTo>
                <a:lnTo>
                  <a:pt x="22330" y="2884"/>
                </a:lnTo>
                <a:lnTo>
                  <a:pt x="36469" y="0"/>
                </a:lnTo>
                <a:lnTo>
                  <a:pt x="910449" y="0"/>
                </a:lnTo>
                <a:lnTo>
                  <a:pt x="924588" y="2884"/>
                </a:lnTo>
                <a:lnTo>
                  <a:pt x="936186" y="10731"/>
                </a:lnTo>
                <a:lnTo>
                  <a:pt x="944033" y="22331"/>
                </a:lnTo>
                <a:lnTo>
                  <a:pt x="946918" y="36474"/>
                </a:lnTo>
                <a:lnTo>
                  <a:pt x="946918" y="160731"/>
                </a:lnTo>
                <a:lnTo>
                  <a:pt x="944033" y="174866"/>
                </a:lnTo>
                <a:lnTo>
                  <a:pt x="936186" y="186462"/>
                </a:lnTo>
                <a:lnTo>
                  <a:pt x="924588" y="194308"/>
                </a:lnTo>
                <a:lnTo>
                  <a:pt x="910449" y="197192"/>
                </a:lnTo>
                <a:lnTo>
                  <a:pt x="36469" y="197192"/>
                </a:lnTo>
                <a:lnTo>
                  <a:pt x="22330" y="194308"/>
                </a:lnTo>
                <a:lnTo>
                  <a:pt x="10732" y="186462"/>
                </a:lnTo>
                <a:lnTo>
                  <a:pt x="2884" y="174866"/>
                </a:lnTo>
                <a:lnTo>
                  <a:pt x="0" y="160731"/>
                </a:lnTo>
                <a:lnTo>
                  <a:pt x="0" y="36474"/>
                </a:lnTo>
                <a:close/>
              </a:path>
            </a:pathLst>
          </a:custGeom>
          <a:ln w="4762">
            <a:solidFill>
              <a:srgbClr val="4867E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84510" y="378019"/>
            <a:ext cx="80454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4867E9"/>
                </a:solidFill>
                <a:latin typeface="Arial"/>
                <a:cs typeface="Arial"/>
              </a:rPr>
              <a:t>TRUST</a:t>
            </a:r>
            <a:r>
              <a:rPr dirty="0" sz="650" spc="-25">
                <a:solidFill>
                  <a:srgbClr val="4867E9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4867E9"/>
                </a:solidFill>
                <a:latin typeface="Arial"/>
                <a:cs typeface="Arial"/>
              </a:rPr>
              <a:t>&amp;</a:t>
            </a:r>
            <a:r>
              <a:rPr dirty="0" sz="650" spc="-25">
                <a:solidFill>
                  <a:srgbClr val="4867E9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4867E9"/>
                </a:solidFill>
                <a:latin typeface="Arial"/>
                <a:cs typeface="Arial"/>
              </a:rPr>
              <a:t>BENEFITS</a:t>
            </a:r>
            <a:endParaRPr sz="6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14636" y="567225"/>
            <a:ext cx="374396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/>
              <a:t>Security,</a:t>
            </a:r>
            <a:r>
              <a:rPr dirty="0" sz="2100" spc="-20"/>
              <a:t> </a:t>
            </a:r>
            <a:r>
              <a:rPr dirty="0" sz="2100"/>
              <a:t>Privacy</a:t>
            </a:r>
            <a:r>
              <a:rPr dirty="0" sz="2100" spc="-15"/>
              <a:t> </a:t>
            </a:r>
            <a:r>
              <a:rPr dirty="0" sz="2100"/>
              <a:t>&amp;</a:t>
            </a:r>
            <a:r>
              <a:rPr dirty="0" sz="2100" spc="-15"/>
              <a:t> </a:t>
            </a:r>
            <a:r>
              <a:rPr dirty="0" sz="2100" spc="-10"/>
              <a:t>Advantages</a:t>
            </a:r>
            <a:endParaRPr sz="2100"/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336" y="1142851"/>
            <a:ext cx="4775301" cy="270598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859462" y="1724355"/>
            <a:ext cx="11074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1B1B27"/>
                </a:solidFill>
                <a:latin typeface="Arial"/>
                <a:cs typeface="Arial"/>
              </a:rPr>
              <a:t>Security</a:t>
            </a:r>
            <a:r>
              <a:rPr dirty="0" sz="1050" spc="-20">
                <a:solidFill>
                  <a:srgbClr val="1B1B27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B1B27"/>
                </a:solidFill>
                <a:latin typeface="Arial"/>
                <a:cs typeface="Arial"/>
              </a:rPr>
              <a:t>&amp;</a:t>
            </a:r>
            <a:r>
              <a:rPr dirty="0" sz="1050" spc="-15">
                <a:solidFill>
                  <a:srgbClr val="1B1B27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B1B27"/>
                </a:solidFill>
                <a:latin typeface="Arial"/>
                <a:cs typeface="Arial"/>
              </a:rPr>
              <a:t>Privacy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59462" y="2283167"/>
            <a:ext cx="635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0">
                <a:solidFill>
                  <a:srgbClr val="404154"/>
                </a:solidFill>
                <a:latin typeface="Arial"/>
                <a:cs typeface="Arial"/>
              </a:rPr>
              <a:t>•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59462" y="2588882"/>
            <a:ext cx="635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0">
                <a:solidFill>
                  <a:srgbClr val="404154"/>
                </a:solidFill>
                <a:latin typeface="Arial"/>
                <a:cs typeface="Arial"/>
              </a:rPr>
              <a:t>•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859462" y="2894596"/>
            <a:ext cx="635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0">
                <a:solidFill>
                  <a:srgbClr val="404154"/>
                </a:solidFill>
                <a:latin typeface="Arial"/>
                <a:cs typeface="Arial"/>
              </a:rPr>
              <a:t>•</a:t>
            </a:r>
            <a:endParaRPr sz="8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859462" y="1954136"/>
            <a:ext cx="2414270" cy="1248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245110" indent="-342900">
              <a:lnSpc>
                <a:spcPct val="118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Secure</a:t>
            </a:r>
            <a:r>
              <a:rPr dirty="0" sz="8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authentication</a:t>
            </a:r>
            <a:r>
              <a:rPr dirty="0" sz="8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with</a:t>
            </a:r>
            <a:r>
              <a:rPr dirty="0" sz="8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role-based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access</a:t>
            </a:r>
            <a:r>
              <a:rPr dirty="0" sz="85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control</a:t>
            </a:r>
            <a:endParaRPr sz="850">
              <a:latin typeface="Arial"/>
              <a:cs typeface="Arial"/>
            </a:endParaRPr>
          </a:p>
          <a:p>
            <a:pPr marL="355600" marR="5080">
              <a:lnSpc>
                <a:spcPct val="118000"/>
              </a:lnSpc>
            </a:pP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End-to-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end</a:t>
            </a:r>
            <a:r>
              <a:rPr dirty="0" sz="8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data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 encryption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for</a:t>
            </a:r>
            <a:r>
              <a:rPr dirty="0" sz="8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all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user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404154"/>
                </a:solidFill>
                <a:latin typeface="Arial"/>
                <a:cs typeface="Arial"/>
              </a:rPr>
              <a:t>and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flight</a:t>
            </a:r>
            <a:r>
              <a:rPr dirty="0" sz="850" spc="-4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information</a:t>
            </a:r>
            <a:endParaRPr sz="850">
              <a:latin typeface="Arial"/>
              <a:cs typeface="Arial"/>
            </a:endParaRPr>
          </a:p>
          <a:p>
            <a:pPr marL="355600" marR="359410">
              <a:lnSpc>
                <a:spcPct val="118000"/>
              </a:lnSpc>
            </a:pP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Privacy-protected</a:t>
            </a:r>
            <a:r>
              <a:rPr dirty="0" sz="85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travel</a:t>
            </a:r>
            <a:r>
              <a:rPr dirty="0" sz="8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history</a:t>
            </a:r>
            <a:r>
              <a:rPr dirty="0" sz="8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404154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personal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data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 storage</a:t>
            </a:r>
            <a:endParaRPr sz="850">
              <a:latin typeface="Arial"/>
              <a:cs typeface="Arial"/>
            </a:endParaRPr>
          </a:p>
          <a:p>
            <a:pPr marL="355600" marR="76835">
              <a:lnSpc>
                <a:spcPct val="118000"/>
              </a:lnSpc>
            </a:pP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Notification</a:t>
            </a:r>
            <a:r>
              <a:rPr dirty="0" sz="85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security</a:t>
            </a:r>
            <a:r>
              <a:rPr dirty="0" sz="85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ensuring</a:t>
            </a:r>
            <a:r>
              <a:rPr dirty="0" sz="85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alerts</a:t>
            </a:r>
            <a:r>
              <a:rPr dirty="0" sz="85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reach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only</a:t>
            </a:r>
            <a:r>
              <a:rPr dirty="0" sz="85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authorized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users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824796" y="4033227"/>
            <a:ext cx="7494905" cy="757555"/>
            <a:chOff x="824796" y="4033227"/>
            <a:chExt cx="7494905" cy="757555"/>
          </a:xfrm>
        </p:grpSpPr>
        <p:sp>
          <p:nvSpPr>
            <p:cNvPr id="12" name="object 12" descr=""/>
            <p:cNvSpPr/>
            <p:nvPr/>
          </p:nvSpPr>
          <p:spPr>
            <a:xfrm>
              <a:off x="827336" y="4035767"/>
              <a:ext cx="7489825" cy="752475"/>
            </a:xfrm>
            <a:custGeom>
              <a:avLst/>
              <a:gdLst/>
              <a:ahLst/>
              <a:cxnLst/>
              <a:rect l="l" t="t" r="r" b="b"/>
              <a:pathLst>
                <a:path w="7489825" h="752475">
                  <a:moveTo>
                    <a:pt x="7443673" y="0"/>
                  </a:moveTo>
                  <a:lnTo>
                    <a:pt x="45584" y="0"/>
                  </a:lnTo>
                  <a:lnTo>
                    <a:pt x="27912" y="3605"/>
                  </a:lnTo>
                  <a:lnTo>
                    <a:pt x="13414" y="13412"/>
                  </a:lnTo>
                  <a:lnTo>
                    <a:pt x="3605" y="27908"/>
                  </a:lnTo>
                  <a:lnTo>
                    <a:pt x="0" y="45580"/>
                  </a:lnTo>
                  <a:lnTo>
                    <a:pt x="0" y="706894"/>
                  </a:lnTo>
                  <a:lnTo>
                    <a:pt x="3605" y="724566"/>
                  </a:lnTo>
                  <a:lnTo>
                    <a:pt x="13414" y="739062"/>
                  </a:lnTo>
                  <a:lnTo>
                    <a:pt x="27912" y="748869"/>
                  </a:lnTo>
                  <a:lnTo>
                    <a:pt x="45584" y="752475"/>
                  </a:lnTo>
                  <a:lnTo>
                    <a:pt x="7443673" y="752475"/>
                  </a:lnTo>
                  <a:lnTo>
                    <a:pt x="7461344" y="748869"/>
                  </a:lnTo>
                  <a:lnTo>
                    <a:pt x="7475840" y="739062"/>
                  </a:lnTo>
                  <a:lnTo>
                    <a:pt x="7485648" y="724566"/>
                  </a:lnTo>
                  <a:lnTo>
                    <a:pt x="7489253" y="706894"/>
                  </a:lnTo>
                  <a:lnTo>
                    <a:pt x="7489253" y="45580"/>
                  </a:lnTo>
                  <a:lnTo>
                    <a:pt x="7485648" y="27908"/>
                  </a:lnTo>
                  <a:lnTo>
                    <a:pt x="7475840" y="13412"/>
                  </a:lnTo>
                  <a:lnTo>
                    <a:pt x="7461344" y="3605"/>
                  </a:lnTo>
                  <a:lnTo>
                    <a:pt x="7443673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27336" y="4035767"/>
              <a:ext cx="7489825" cy="752475"/>
            </a:xfrm>
            <a:custGeom>
              <a:avLst/>
              <a:gdLst/>
              <a:ahLst/>
              <a:cxnLst/>
              <a:rect l="l" t="t" r="r" b="b"/>
              <a:pathLst>
                <a:path w="7489825" h="752475">
                  <a:moveTo>
                    <a:pt x="0" y="45580"/>
                  </a:moveTo>
                  <a:lnTo>
                    <a:pt x="3605" y="27908"/>
                  </a:lnTo>
                  <a:lnTo>
                    <a:pt x="13414" y="13412"/>
                  </a:lnTo>
                  <a:lnTo>
                    <a:pt x="27912" y="3605"/>
                  </a:lnTo>
                  <a:lnTo>
                    <a:pt x="45584" y="0"/>
                  </a:lnTo>
                  <a:lnTo>
                    <a:pt x="7443673" y="0"/>
                  </a:lnTo>
                  <a:lnTo>
                    <a:pt x="7461344" y="3605"/>
                  </a:lnTo>
                  <a:lnTo>
                    <a:pt x="7475840" y="13412"/>
                  </a:lnTo>
                  <a:lnTo>
                    <a:pt x="7485648" y="27908"/>
                  </a:lnTo>
                  <a:lnTo>
                    <a:pt x="7489253" y="45580"/>
                  </a:lnTo>
                  <a:lnTo>
                    <a:pt x="7489253" y="706894"/>
                  </a:lnTo>
                  <a:lnTo>
                    <a:pt x="7485648" y="724566"/>
                  </a:lnTo>
                  <a:lnTo>
                    <a:pt x="7475840" y="739062"/>
                  </a:lnTo>
                  <a:lnTo>
                    <a:pt x="7461344" y="748869"/>
                  </a:lnTo>
                  <a:lnTo>
                    <a:pt x="7443673" y="752475"/>
                  </a:lnTo>
                  <a:lnTo>
                    <a:pt x="45584" y="752475"/>
                  </a:lnTo>
                  <a:lnTo>
                    <a:pt x="27912" y="748869"/>
                  </a:lnTo>
                  <a:lnTo>
                    <a:pt x="13414" y="739062"/>
                  </a:lnTo>
                  <a:lnTo>
                    <a:pt x="3605" y="724566"/>
                  </a:lnTo>
                  <a:lnTo>
                    <a:pt x="0" y="706894"/>
                  </a:lnTo>
                  <a:lnTo>
                    <a:pt x="0" y="45580"/>
                  </a:lnTo>
                  <a:close/>
                </a:path>
              </a:pathLst>
            </a:custGeom>
            <a:ln w="4762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32097" y="4040530"/>
              <a:ext cx="3740150" cy="742950"/>
            </a:xfrm>
            <a:custGeom>
              <a:avLst/>
              <a:gdLst/>
              <a:ahLst/>
              <a:cxnLst/>
              <a:rect l="l" t="t" r="r" b="b"/>
              <a:pathLst>
                <a:path w="3740150" h="742950">
                  <a:moveTo>
                    <a:pt x="3694239" y="0"/>
                  </a:moveTo>
                  <a:lnTo>
                    <a:pt x="45587" y="0"/>
                  </a:lnTo>
                  <a:lnTo>
                    <a:pt x="27913" y="3605"/>
                  </a:lnTo>
                  <a:lnTo>
                    <a:pt x="13415" y="13414"/>
                  </a:lnTo>
                  <a:lnTo>
                    <a:pt x="3606" y="27914"/>
                  </a:lnTo>
                  <a:lnTo>
                    <a:pt x="0" y="45592"/>
                  </a:lnTo>
                  <a:lnTo>
                    <a:pt x="0" y="697357"/>
                  </a:lnTo>
                  <a:lnTo>
                    <a:pt x="3606" y="715035"/>
                  </a:lnTo>
                  <a:lnTo>
                    <a:pt x="13415" y="729535"/>
                  </a:lnTo>
                  <a:lnTo>
                    <a:pt x="27913" y="739344"/>
                  </a:lnTo>
                  <a:lnTo>
                    <a:pt x="45587" y="742950"/>
                  </a:lnTo>
                  <a:lnTo>
                    <a:pt x="3694239" y="742950"/>
                  </a:lnTo>
                  <a:lnTo>
                    <a:pt x="3711912" y="739344"/>
                  </a:lnTo>
                  <a:lnTo>
                    <a:pt x="3726413" y="729535"/>
                  </a:lnTo>
                  <a:lnTo>
                    <a:pt x="3736225" y="715035"/>
                  </a:lnTo>
                  <a:lnTo>
                    <a:pt x="3739832" y="697357"/>
                  </a:lnTo>
                  <a:lnTo>
                    <a:pt x="3739832" y="45592"/>
                  </a:lnTo>
                  <a:lnTo>
                    <a:pt x="3736225" y="27914"/>
                  </a:lnTo>
                  <a:lnTo>
                    <a:pt x="3726413" y="13414"/>
                  </a:lnTo>
                  <a:lnTo>
                    <a:pt x="3711912" y="3605"/>
                  </a:lnTo>
                  <a:lnTo>
                    <a:pt x="3694239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829717" y="4059521"/>
            <a:ext cx="3742690" cy="60198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10489">
              <a:lnSpc>
                <a:spcPct val="100000"/>
              </a:lnSpc>
              <a:spcBef>
                <a:spcPts val="680"/>
              </a:spcBef>
            </a:pP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For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Passengers</a:t>
            </a:r>
            <a:endParaRPr sz="1050">
              <a:latin typeface="Arial"/>
              <a:cs typeface="Arial"/>
            </a:endParaRPr>
          </a:p>
          <a:p>
            <a:pPr marL="110489" marR="464184">
              <a:lnSpc>
                <a:spcPct val="118000"/>
              </a:lnSpc>
              <a:spcBef>
                <a:spcPts val="290"/>
              </a:spcBef>
            </a:pP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Faster</a:t>
            </a:r>
            <a:r>
              <a:rPr dirty="0" sz="85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navigation,</a:t>
            </a:r>
            <a:r>
              <a:rPr dirty="0" sz="85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reduced</a:t>
            </a:r>
            <a:r>
              <a:rPr dirty="0" sz="85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confusion,</a:t>
            </a:r>
            <a:r>
              <a:rPr dirty="0" sz="85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real-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time</a:t>
            </a:r>
            <a:r>
              <a:rPr dirty="0" sz="85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flight</a:t>
            </a:r>
            <a:r>
              <a:rPr dirty="0" sz="85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updates,</a:t>
            </a:r>
            <a:r>
              <a:rPr dirty="0" sz="850" spc="-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404154"/>
                </a:solidFill>
                <a:latin typeface="Arial"/>
                <a:cs typeface="Arial"/>
              </a:rPr>
              <a:t>and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effortless</a:t>
            </a:r>
            <a:r>
              <a:rPr dirty="0" sz="850" spc="-5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service</a:t>
            </a:r>
            <a:r>
              <a:rPr dirty="0" sz="850" spc="-4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discovery.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571923" y="4040530"/>
            <a:ext cx="3740150" cy="742950"/>
            <a:chOff x="4571923" y="4040530"/>
            <a:chExt cx="3740150" cy="742950"/>
          </a:xfrm>
        </p:grpSpPr>
        <p:sp>
          <p:nvSpPr>
            <p:cNvPr id="17" name="object 17" descr=""/>
            <p:cNvSpPr/>
            <p:nvPr/>
          </p:nvSpPr>
          <p:spPr>
            <a:xfrm>
              <a:off x="4571923" y="4040530"/>
              <a:ext cx="3740150" cy="742950"/>
            </a:xfrm>
            <a:custGeom>
              <a:avLst/>
              <a:gdLst/>
              <a:ahLst/>
              <a:cxnLst/>
              <a:rect l="l" t="t" r="r" b="b"/>
              <a:pathLst>
                <a:path w="3740150" h="742950">
                  <a:moveTo>
                    <a:pt x="3739896" y="0"/>
                  </a:moveTo>
                  <a:lnTo>
                    <a:pt x="0" y="0"/>
                  </a:lnTo>
                  <a:lnTo>
                    <a:pt x="0" y="742950"/>
                  </a:lnTo>
                  <a:lnTo>
                    <a:pt x="3739896" y="742950"/>
                  </a:lnTo>
                  <a:lnTo>
                    <a:pt x="3739896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571923" y="4040530"/>
              <a:ext cx="14604" cy="742950"/>
            </a:xfrm>
            <a:custGeom>
              <a:avLst/>
              <a:gdLst/>
              <a:ahLst/>
              <a:cxnLst/>
              <a:rect l="l" t="t" r="r" b="b"/>
              <a:pathLst>
                <a:path w="14604" h="742950">
                  <a:moveTo>
                    <a:pt x="11062" y="0"/>
                  </a:moveTo>
                  <a:lnTo>
                    <a:pt x="3224" y="0"/>
                  </a:lnTo>
                  <a:lnTo>
                    <a:pt x="0" y="3225"/>
                  </a:lnTo>
                  <a:lnTo>
                    <a:pt x="0" y="7137"/>
                  </a:lnTo>
                  <a:lnTo>
                    <a:pt x="0" y="739724"/>
                  </a:lnTo>
                  <a:lnTo>
                    <a:pt x="3224" y="742950"/>
                  </a:lnTo>
                  <a:lnTo>
                    <a:pt x="11062" y="742950"/>
                  </a:lnTo>
                  <a:lnTo>
                    <a:pt x="14287" y="739724"/>
                  </a:lnTo>
                  <a:lnTo>
                    <a:pt x="14287" y="3225"/>
                  </a:lnTo>
                  <a:lnTo>
                    <a:pt x="11062" y="0"/>
                  </a:lnTo>
                  <a:close/>
                </a:path>
              </a:pathLst>
            </a:custGeom>
            <a:solidFill>
              <a:srgbClr val="B8BE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4586211" y="4059521"/>
            <a:ext cx="3728085" cy="60198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680"/>
              </a:spcBef>
            </a:pPr>
            <a:r>
              <a:rPr dirty="0" sz="1050">
                <a:solidFill>
                  <a:srgbClr val="404154"/>
                </a:solidFill>
                <a:latin typeface="Arial"/>
                <a:cs typeface="Arial"/>
              </a:rPr>
              <a:t>For </a:t>
            </a:r>
            <a:r>
              <a:rPr dirty="0" sz="1050" spc="-10">
                <a:solidFill>
                  <a:srgbClr val="404154"/>
                </a:solidFill>
                <a:latin typeface="Arial"/>
                <a:cs typeface="Arial"/>
              </a:rPr>
              <a:t>Airports</a:t>
            </a:r>
            <a:endParaRPr sz="1050">
              <a:latin typeface="Arial"/>
              <a:cs typeface="Arial"/>
            </a:endParaRPr>
          </a:p>
          <a:p>
            <a:pPr marL="93980" marR="257175">
              <a:lnSpc>
                <a:spcPct val="118000"/>
              </a:lnSpc>
              <a:spcBef>
                <a:spcPts val="290"/>
              </a:spcBef>
            </a:pP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Better</a:t>
            </a:r>
            <a:r>
              <a:rPr dirty="0" sz="8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crowd</a:t>
            </a:r>
            <a:r>
              <a:rPr dirty="0" sz="8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management,</a:t>
            </a:r>
            <a:r>
              <a:rPr dirty="0" sz="8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reduced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staff</a:t>
            </a:r>
            <a:r>
              <a:rPr dirty="0" sz="8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workload,</a:t>
            </a:r>
            <a:r>
              <a:rPr dirty="0" sz="85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higher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 satisfaction,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85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404154"/>
                </a:solidFill>
                <a:latin typeface="Arial"/>
                <a:cs typeface="Arial"/>
              </a:rPr>
              <a:t>smart</a:t>
            </a:r>
            <a:r>
              <a:rPr dirty="0" sz="85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404154"/>
                </a:solidFill>
                <a:latin typeface="Arial"/>
                <a:cs typeface="Arial"/>
              </a:rPr>
              <a:t>modernization.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65161" y="405408"/>
            <a:ext cx="706755" cy="244475"/>
          </a:xfrm>
          <a:custGeom>
            <a:avLst/>
            <a:gdLst/>
            <a:ahLst/>
            <a:cxnLst/>
            <a:rect l="l" t="t" r="r" b="b"/>
            <a:pathLst>
              <a:path w="706755" h="244475">
                <a:moveTo>
                  <a:pt x="661904" y="0"/>
                </a:moveTo>
                <a:lnTo>
                  <a:pt x="44656" y="0"/>
                </a:lnTo>
                <a:lnTo>
                  <a:pt x="27344" y="3531"/>
                </a:lnTo>
                <a:lnTo>
                  <a:pt x="13141" y="13139"/>
                </a:lnTo>
                <a:lnTo>
                  <a:pt x="3532" y="27340"/>
                </a:lnTo>
                <a:lnTo>
                  <a:pt x="0" y="44653"/>
                </a:lnTo>
                <a:lnTo>
                  <a:pt x="0" y="199720"/>
                </a:lnTo>
                <a:lnTo>
                  <a:pt x="3532" y="217032"/>
                </a:lnTo>
                <a:lnTo>
                  <a:pt x="13141" y="231233"/>
                </a:lnTo>
                <a:lnTo>
                  <a:pt x="27344" y="240841"/>
                </a:lnTo>
                <a:lnTo>
                  <a:pt x="44656" y="244373"/>
                </a:lnTo>
                <a:lnTo>
                  <a:pt x="661904" y="244373"/>
                </a:lnTo>
                <a:lnTo>
                  <a:pt x="679217" y="240841"/>
                </a:lnTo>
                <a:lnTo>
                  <a:pt x="693420" y="231233"/>
                </a:lnTo>
                <a:lnTo>
                  <a:pt x="703029" y="217032"/>
                </a:lnTo>
                <a:lnTo>
                  <a:pt x="706561" y="199720"/>
                </a:lnTo>
                <a:lnTo>
                  <a:pt x="706561" y="44653"/>
                </a:lnTo>
                <a:lnTo>
                  <a:pt x="703029" y="27340"/>
                </a:lnTo>
                <a:lnTo>
                  <a:pt x="693420" y="13139"/>
                </a:lnTo>
                <a:lnTo>
                  <a:pt x="679217" y="3531"/>
                </a:lnTo>
                <a:lnTo>
                  <a:pt x="661904" y="0"/>
                </a:lnTo>
                <a:close/>
              </a:path>
            </a:pathLst>
          </a:custGeom>
          <a:solidFill>
            <a:srgbClr val="D2D9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32160" y="430372"/>
            <a:ext cx="5384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404154"/>
                </a:solidFill>
                <a:latin typeface="Arial"/>
                <a:cs typeface="Arial"/>
              </a:rPr>
              <a:t>ROADMAP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dirty="0" spc="-65"/>
              <a:t> </a:t>
            </a:r>
            <a:r>
              <a:rPr dirty="0"/>
              <a:t>&amp;</a:t>
            </a:r>
            <a:r>
              <a:rPr dirty="0" spc="-65"/>
              <a:t> </a:t>
            </a:r>
            <a:r>
              <a:rPr dirty="0"/>
              <a:t>Future</a:t>
            </a:r>
            <a:r>
              <a:rPr dirty="0" spc="-60"/>
              <a:t> </a:t>
            </a:r>
            <a:r>
              <a:rPr dirty="0" spc="-10"/>
              <a:t>Vision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458017" y="1294580"/>
            <a:ext cx="4058920" cy="1003300"/>
            <a:chOff x="458017" y="1294580"/>
            <a:chExt cx="4058920" cy="1003300"/>
          </a:xfrm>
        </p:grpSpPr>
        <p:sp>
          <p:nvSpPr>
            <p:cNvPr id="6" name="object 6" descr=""/>
            <p:cNvSpPr/>
            <p:nvPr/>
          </p:nvSpPr>
          <p:spPr>
            <a:xfrm>
              <a:off x="465161" y="1301724"/>
              <a:ext cx="4044950" cy="989330"/>
            </a:xfrm>
            <a:custGeom>
              <a:avLst/>
              <a:gdLst/>
              <a:ahLst/>
              <a:cxnLst/>
              <a:rect l="l" t="t" r="r" b="b"/>
              <a:pathLst>
                <a:path w="4044950" h="989330">
                  <a:moveTo>
                    <a:pt x="3988727" y="0"/>
                  </a:moveTo>
                  <a:lnTo>
                    <a:pt x="55824" y="0"/>
                  </a:lnTo>
                  <a:lnTo>
                    <a:pt x="34181" y="4415"/>
                  </a:lnTo>
                  <a:lnTo>
                    <a:pt x="16427" y="16427"/>
                  </a:lnTo>
                  <a:lnTo>
                    <a:pt x="4415" y="34182"/>
                  </a:lnTo>
                  <a:lnTo>
                    <a:pt x="0" y="55829"/>
                  </a:lnTo>
                  <a:lnTo>
                    <a:pt x="0" y="932916"/>
                  </a:lnTo>
                  <a:lnTo>
                    <a:pt x="4415" y="954557"/>
                  </a:lnTo>
                  <a:lnTo>
                    <a:pt x="16427" y="972313"/>
                  </a:lnTo>
                  <a:lnTo>
                    <a:pt x="34181" y="984328"/>
                  </a:lnTo>
                  <a:lnTo>
                    <a:pt x="55824" y="988745"/>
                  </a:lnTo>
                  <a:lnTo>
                    <a:pt x="3988727" y="988745"/>
                  </a:lnTo>
                  <a:lnTo>
                    <a:pt x="4010368" y="984328"/>
                  </a:lnTo>
                  <a:lnTo>
                    <a:pt x="4028124" y="972313"/>
                  </a:lnTo>
                  <a:lnTo>
                    <a:pt x="4040138" y="954557"/>
                  </a:lnTo>
                  <a:lnTo>
                    <a:pt x="4044556" y="932916"/>
                  </a:lnTo>
                  <a:lnTo>
                    <a:pt x="4044556" y="55829"/>
                  </a:lnTo>
                  <a:lnTo>
                    <a:pt x="4040138" y="34182"/>
                  </a:lnTo>
                  <a:lnTo>
                    <a:pt x="4028124" y="16427"/>
                  </a:lnTo>
                  <a:lnTo>
                    <a:pt x="4010368" y="4415"/>
                  </a:lnTo>
                  <a:lnTo>
                    <a:pt x="3988727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65161" y="1301724"/>
              <a:ext cx="4044950" cy="989330"/>
            </a:xfrm>
            <a:custGeom>
              <a:avLst/>
              <a:gdLst/>
              <a:ahLst/>
              <a:cxnLst/>
              <a:rect l="l" t="t" r="r" b="b"/>
              <a:pathLst>
                <a:path w="4044950" h="989330">
                  <a:moveTo>
                    <a:pt x="0" y="55829"/>
                  </a:moveTo>
                  <a:lnTo>
                    <a:pt x="4415" y="34182"/>
                  </a:lnTo>
                  <a:lnTo>
                    <a:pt x="16427" y="16427"/>
                  </a:lnTo>
                  <a:lnTo>
                    <a:pt x="34181" y="4415"/>
                  </a:lnTo>
                  <a:lnTo>
                    <a:pt x="55824" y="0"/>
                  </a:lnTo>
                  <a:lnTo>
                    <a:pt x="3988727" y="0"/>
                  </a:lnTo>
                  <a:lnTo>
                    <a:pt x="4010368" y="4415"/>
                  </a:lnTo>
                  <a:lnTo>
                    <a:pt x="4028124" y="16427"/>
                  </a:lnTo>
                  <a:lnTo>
                    <a:pt x="4040138" y="34182"/>
                  </a:lnTo>
                  <a:lnTo>
                    <a:pt x="4044556" y="55829"/>
                  </a:lnTo>
                  <a:lnTo>
                    <a:pt x="4044556" y="932916"/>
                  </a:lnTo>
                  <a:lnTo>
                    <a:pt x="4040138" y="954557"/>
                  </a:lnTo>
                  <a:lnTo>
                    <a:pt x="4028124" y="972313"/>
                  </a:lnTo>
                  <a:lnTo>
                    <a:pt x="4010368" y="984328"/>
                  </a:lnTo>
                  <a:lnTo>
                    <a:pt x="3988727" y="988745"/>
                  </a:lnTo>
                  <a:lnTo>
                    <a:pt x="55824" y="988745"/>
                  </a:lnTo>
                  <a:lnTo>
                    <a:pt x="34181" y="984328"/>
                  </a:lnTo>
                  <a:lnTo>
                    <a:pt x="16427" y="972313"/>
                  </a:lnTo>
                  <a:lnTo>
                    <a:pt x="4415" y="954557"/>
                  </a:lnTo>
                  <a:lnTo>
                    <a:pt x="0" y="932916"/>
                  </a:lnTo>
                  <a:lnTo>
                    <a:pt x="0" y="55829"/>
                  </a:lnTo>
                  <a:close/>
                </a:path>
              </a:pathLst>
            </a:custGeom>
            <a:ln w="14287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74513" y="1322124"/>
            <a:ext cx="4025900" cy="768350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969"/>
              </a:spcBef>
            </a:pPr>
            <a:r>
              <a:rPr dirty="0" sz="1300">
                <a:solidFill>
                  <a:srgbClr val="404154"/>
                </a:solidFill>
                <a:latin typeface="Arial"/>
                <a:cs typeface="Arial"/>
              </a:rPr>
              <a:t>Passenger</a:t>
            </a:r>
            <a:r>
              <a:rPr dirty="0" sz="1300" spc="-5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404154"/>
                </a:solidFill>
                <a:latin typeface="Arial"/>
                <a:cs typeface="Arial"/>
              </a:rPr>
              <a:t>Impact</a:t>
            </a:r>
            <a:endParaRPr sz="1300">
              <a:latin typeface="Arial"/>
              <a:cs typeface="Arial"/>
            </a:endParaRPr>
          </a:p>
          <a:p>
            <a:pPr marL="137795" marR="521970">
              <a:lnSpc>
                <a:spcPct val="129000"/>
              </a:lnSpc>
              <a:spcBef>
                <a:spcPts val="320"/>
              </a:spcBef>
            </a:pPr>
            <a:r>
              <a:rPr dirty="0" sz="1000" spc="-10">
                <a:solidFill>
                  <a:srgbClr val="404154"/>
                </a:solidFill>
                <a:latin typeface="Arial"/>
                <a:cs typeface="Arial"/>
              </a:rPr>
              <a:t>Stress-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free</a:t>
            </a:r>
            <a:r>
              <a:rPr dirty="0" sz="10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travel,</a:t>
            </a:r>
            <a:r>
              <a:rPr dirty="0" sz="1000" spc="-1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easy</a:t>
            </a:r>
            <a:r>
              <a:rPr dirty="0" sz="10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information</a:t>
            </a:r>
            <a:r>
              <a:rPr dirty="0" sz="1000" spc="-1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access,</a:t>
            </a:r>
            <a:r>
              <a:rPr dirty="0" sz="1000" spc="-1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and</a:t>
            </a:r>
            <a:r>
              <a:rPr dirty="0" sz="1000" spc="-1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smarter</a:t>
            </a:r>
            <a:r>
              <a:rPr dirty="0" sz="1000" spc="-1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404154"/>
                </a:solidFill>
                <a:latin typeface="Arial"/>
                <a:cs typeface="Arial"/>
              </a:rPr>
              <a:t>trip </a:t>
            </a:r>
            <a:r>
              <a:rPr dirty="0" sz="1000" spc="-10">
                <a:solidFill>
                  <a:srgbClr val="404154"/>
                </a:solidFill>
                <a:latin typeface="Arial"/>
                <a:cs typeface="Arial"/>
              </a:rPr>
              <a:t>planning.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627136" y="1294580"/>
            <a:ext cx="4058920" cy="1003300"/>
            <a:chOff x="4627136" y="1294580"/>
            <a:chExt cx="4058920" cy="1003300"/>
          </a:xfrm>
        </p:grpSpPr>
        <p:sp>
          <p:nvSpPr>
            <p:cNvPr id="10" name="object 10" descr=""/>
            <p:cNvSpPr/>
            <p:nvPr/>
          </p:nvSpPr>
          <p:spPr>
            <a:xfrm>
              <a:off x="4634280" y="1301724"/>
              <a:ext cx="4044950" cy="989330"/>
            </a:xfrm>
            <a:custGeom>
              <a:avLst/>
              <a:gdLst/>
              <a:ahLst/>
              <a:cxnLst/>
              <a:rect l="l" t="t" r="r" b="b"/>
              <a:pathLst>
                <a:path w="4044950" h="989330">
                  <a:moveTo>
                    <a:pt x="3988727" y="0"/>
                  </a:moveTo>
                  <a:lnTo>
                    <a:pt x="55824" y="0"/>
                  </a:lnTo>
                  <a:lnTo>
                    <a:pt x="34181" y="4415"/>
                  </a:lnTo>
                  <a:lnTo>
                    <a:pt x="16427" y="16427"/>
                  </a:lnTo>
                  <a:lnTo>
                    <a:pt x="4415" y="34182"/>
                  </a:lnTo>
                  <a:lnTo>
                    <a:pt x="0" y="55829"/>
                  </a:lnTo>
                  <a:lnTo>
                    <a:pt x="0" y="932916"/>
                  </a:lnTo>
                  <a:lnTo>
                    <a:pt x="4415" y="954557"/>
                  </a:lnTo>
                  <a:lnTo>
                    <a:pt x="16427" y="972313"/>
                  </a:lnTo>
                  <a:lnTo>
                    <a:pt x="34181" y="984328"/>
                  </a:lnTo>
                  <a:lnTo>
                    <a:pt x="55824" y="988745"/>
                  </a:lnTo>
                  <a:lnTo>
                    <a:pt x="3988727" y="988745"/>
                  </a:lnTo>
                  <a:lnTo>
                    <a:pt x="4010368" y="984328"/>
                  </a:lnTo>
                  <a:lnTo>
                    <a:pt x="4028124" y="972313"/>
                  </a:lnTo>
                  <a:lnTo>
                    <a:pt x="4040138" y="954557"/>
                  </a:lnTo>
                  <a:lnTo>
                    <a:pt x="4044556" y="932916"/>
                  </a:lnTo>
                  <a:lnTo>
                    <a:pt x="4044556" y="55829"/>
                  </a:lnTo>
                  <a:lnTo>
                    <a:pt x="4040138" y="34182"/>
                  </a:lnTo>
                  <a:lnTo>
                    <a:pt x="4028124" y="16427"/>
                  </a:lnTo>
                  <a:lnTo>
                    <a:pt x="4010368" y="4415"/>
                  </a:lnTo>
                  <a:lnTo>
                    <a:pt x="3988727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634280" y="1301724"/>
              <a:ext cx="4044950" cy="989330"/>
            </a:xfrm>
            <a:custGeom>
              <a:avLst/>
              <a:gdLst/>
              <a:ahLst/>
              <a:cxnLst/>
              <a:rect l="l" t="t" r="r" b="b"/>
              <a:pathLst>
                <a:path w="4044950" h="989330">
                  <a:moveTo>
                    <a:pt x="0" y="55829"/>
                  </a:moveTo>
                  <a:lnTo>
                    <a:pt x="4415" y="34182"/>
                  </a:lnTo>
                  <a:lnTo>
                    <a:pt x="16427" y="16427"/>
                  </a:lnTo>
                  <a:lnTo>
                    <a:pt x="34181" y="4415"/>
                  </a:lnTo>
                  <a:lnTo>
                    <a:pt x="55824" y="0"/>
                  </a:lnTo>
                  <a:lnTo>
                    <a:pt x="3988727" y="0"/>
                  </a:lnTo>
                  <a:lnTo>
                    <a:pt x="4010368" y="4415"/>
                  </a:lnTo>
                  <a:lnTo>
                    <a:pt x="4028124" y="16427"/>
                  </a:lnTo>
                  <a:lnTo>
                    <a:pt x="4040138" y="34182"/>
                  </a:lnTo>
                  <a:lnTo>
                    <a:pt x="4044556" y="55829"/>
                  </a:lnTo>
                  <a:lnTo>
                    <a:pt x="4044556" y="932916"/>
                  </a:lnTo>
                  <a:lnTo>
                    <a:pt x="4040138" y="954557"/>
                  </a:lnTo>
                  <a:lnTo>
                    <a:pt x="4028124" y="972313"/>
                  </a:lnTo>
                  <a:lnTo>
                    <a:pt x="4010368" y="984328"/>
                  </a:lnTo>
                  <a:lnTo>
                    <a:pt x="3988727" y="988745"/>
                  </a:lnTo>
                  <a:lnTo>
                    <a:pt x="55824" y="988745"/>
                  </a:lnTo>
                  <a:lnTo>
                    <a:pt x="34181" y="984328"/>
                  </a:lnTo>
                  <a:lnTo>
                    <a:pt x="16427" y="972313"/>
                  </a:lnTo>
                  <a:lnTo>
                    <a:pt x="4415" y="954557"/>
                  </a:lnTo>
                  <a:lnTo>
                    <a:pt x="0" y="932916"/>
                  </a:lnTo>
                  <a:lnTo>
                    <a:pt x="0" y="55829"/>
                  </a:lnTo>
                  <a:close/>
                </a:path>
              </a:pathLst>
            </a:custGeom>
            <a:ln w="14287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643632" y="1322124"/>
            <a:ext cx="4025900" cy="768350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969"/>
              </a:spcBef>
            </a:pPr>
            <a:r>
              <a:rPr dirty="0" sz="1300">
                <a:solidFill>
                  <a:srgbClr val="404154"/>
                </a:solidFill>
                <a:latin typeface="Arial"/>
                <a:cs typeface="Arial"/>
              </a:rPr>
              <a:t>Airport</a:t>
            </a:r>
            <a:r>
              <a:rPr dirty="0" sz="1300" spc="-5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404154"/>
                </a:solidFill>
                <a:latin typeface="Arial"/>
                <a:cs typeface="Arial"/>
              </a:rPr>
              <a:t>Impact</a:t>
            </a:r>
            <a:endParaRPr sz="1300">
              <a:latin typeface="Arial"/>
              <a:cs typeface="Arial"/>
            </a:endParaRPr>
          </a:p>
          <a:p>
            <a:pPr marL="137795" marR="572135">
              <a:lnSpc>
                <a:spcPct val="129000"/>
              </a:lnSpc>
              <a:spcBef>
                <a:spcPts val="320"/>
              </a:spcBef>
            </a:pP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Improved</a:t>
            </a:r>
            <a:r>
              <a:rPr dirty="0" sz="1000" spc="-4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crowd</a:t>
            </a:r>
            <a:r>
              <a:rPr dirty="0" sz="10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management,</a:t>
            </a:r>
            <a:r>
              <a:rPr dirty="0" sz="10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reduced</a:t>
            </a:r>
            <a:r>
              <a:rPr dirty="0" sz="10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staff</a:t>
            </a:r>
            <a:r>
              <a:rPr dirty="0" sz="10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workload,</a:t>
            </a:r>
            <a:r>
              <a:rPr dirty="0" sz="10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404154"/>
                </a:solidFill>
                <a:latin typeface="Arial"/>
                <a:cs typeface="Arial"/>
              </a:rPr>
              <a:t>and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efficient</a:t>
            </a:r>
            <a:r>
              <a:rPr dirty="0" sz="1000" spc="-4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resource</a:t>
            </a:r>
            <a:r>
              <a:rPr dirty="0" sz="10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404154"/>
                </a:solidFill>
                <a:latin typeface="Arial"/>
                <a:cs typeface="Arial"/>
              </a:rPr>
              <a:t>use.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58017" y="2407888"/>
            <a:ext cx="4058920" cy="1003300"/>
            <a:chOff x="458017" y="2407888"/>
            <a:chExt cx="4058920" cy="1003300"/>
          </a:xfrm>
        </p:grpSpPr>
        <p:sp>
          <p:nvSpPr>
            <p:cNvPr id="14" name="object 14" descr=""/>
            <p:cNvSpPr/>
            <p:nvPr/>
          </p:nvSpPr>
          <p:spPr>
            <a:xfrm>
              <a:off x="465161" y="2415031"/>
              <a:ext cx="4044950" cy="989330"/>
            </a:xfrm>
            <a:custGeom>
              <a:avLst/>
              <a:gdLst/>
              <a:ahLst/>
              <a:cxnLst/>
              <a:rect l="l" t="t" r="r" b="b"/>
              <a:pathLst>
                <a:path w="4044950" h="989329">
                  <a:moveTo>
                    <a:pt x="3988727" y="0"/>
                  </a:moveTo>
                  <a:lnTo>
                    <a:pt x="55824" y="0"/>
                  </a:lnTo>
                  <a:lnTo>
                    <a:pt x="34181" y="4415"/>
                  </a:lnTo>
                  <a:lnTo>
                    <a:pt x="16427" y="16427"/>
                  </a:lnTo>
                  <a:lnTo>
                    <a:pt x="4415" y="34182"/>
                  </a:lnTo>
                  <a:lnTo>
                    <a:pt x="0" y="55829"/>
                  </a:lnTo>
                  <a:lnTo>
                    <a:pt x="0" y="932916"/>
                  </a:lnTo>
                  <a:lnTo>
                    <a:pt x="4415" y="954557"/>
                  </a:lnTo>
                  <a:lnTo>
                    <a:pt x="16427" y="972313"/>
                  </a:lnTo>
                  <a:lnTo>
                    <a:pt x="34181" y="984328"/>
                  </a:lnTo>
                  <a:lnTo>
                    <a:pt x="55824" y="988745"/>
                  </a:lnTo>
                  <a:lnTo>
                    <a:pt x="3988727" y="988745"/>
                  </a:lnTo>
                  <a:lnTo>
                    <a:pt x="4010368" y="984328"/>
                  </a:lnTo>
                  <a:lnTo>
                    <a:pt x="4028124" y="972313"/>
                  </a:lnTo>
                  <a:lnTo>
                    <a:pt x="4040138" y="954557"/>
                  </a:lnTo>
                  <a:lnTo>
                    <a:pt x="4044556" y="932916"/>
                  </a:lnTo>
                  <a:lnTo>
                    <a:pt x="4044556" y="55829"/>
                  </a:lnTo>
                  <a:lnTo>
                    <a:pt x="4040138" y="34182"/>
                  </a:lnTo>
                  <a:lnTo>
                    <a:pt x="4028124" y="16427"/>
                  </a:lnTo>
                  <a:lnTo>
                    <a:pt x="4010368" y="4415"/>
                  </a:lnTo>
                  <a:lnTo>
                    <a:pt x="3988727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65161" y="2415031"/>
              <a:ext cx="4044950" cy="989330"/>
            </a:xfrm>
            <a:custGeom>
              <a:avLst/>
              <a:gdLst/>
              <a:ahLst/>
              <a:cxnLst/>
              <a:rect l="l" t="t" r="r" b="b"/>
              <a:pathLst>
                <a:path w="4044950" h="989329">
                  <a:moveTo>
                    <a:pt x="0" y="55829"/>
                  </a:moveTo>
                  <a:lnTo>
                    <a:pt x="4415" y="34182"/>
                  </a:lnTo>
                  <a:lnTo>
                    <a:pt x="16427" y="16427"/>
                  </a:lnTo>
                  <a:lnTo>
                    <a:pt x="34181" y="4415"/>
                  </a:lnTo>
                  <a:lnTo>
                    <a:pt x="55824" y="0"/>
                  </a:lnTo>
                  <a:lnTo>
                    <a:pt x="3988727" y="0"/>
                  </a:lnTo>
                  <a:lnTo>
                    <a:pt x="4010368" y="4415"/>
                  </a:lnTo>
                  <a:lnTo>
                    <a:pt x="4028124" y="16427"/>
                  </a:lnTo>
                  <a:lnTo>
                    <a:pt x="4040138" y="34182"/>
                  </a:lnTo>
                  <a:lnTo>
                    <a:pt x="4044556" y="55829"/>
                  </a:lnTo>
                  <a:lnTo>
                    <a:pt x="4044556" y="932916"/>
                  </a:lnTo>
                  <a:lnTo>
                    <a:pt x="4040138" y="954557"/>
                  </a:lnTo>
                  <a:lnTo>
                    <a:pt x="4028124" y="972313"/>
                  </a:lnTo>
                  <a:lnTo>
                    <a:pt x="4010368" y="984328"/>
                  </a:lnTo>
                  <a:lnTo>
                    <a:pt x="3988727" y="988745"/>
                  </a:lnTo>
                  <a:lnTo>
                    <a:pt x="55824" y="988745"/>
                  </a:lnTo>
                  <a:lnTo>
                    <a:pt x="34181" y="984328"/>
                  </a:lnTo>
                  <a:lnTo>
                    <a:pt x="16427" y="972313"/>
                  </a:lnTo>
                  <a:lnTo>
                    <a:pt x="4415" y="954557"/>
                  </a:lnTo>
                  <a:lnTo>
                    <a:pt x="0" y="932916"/>
                  </a:lnTo>
                  <a:lnTo>
                    <a:pt x="0" y="55829"/>
                  </a:lnTo>
                  <a:close/>
                </a:path>
              </a:pathLst>
            </a:custGeom>
            <a:ln w="14287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474513" y="2435432"/>
            <a:ext cx="4025900" cy="768350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969"/>
              </a:spcBef>
            </a:pPr>
            <a:r>
              <a:rPr dirty="0" sz="1300">
                <a:solidFill>
                  <a:srgbClr val="404154"/>
                </a:solidFill>
                <a:latin typeface="Arial"/>
                <a:cs typeface="Arial"/>
              </a:rPr>
              <a:t>Success</a:t>
            </a:r>
            <a:r>
              <a:rPr dirty="0" sz="1300" spc="-4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404154"/>
                </a:solidFill>
                <a:latin typeface="Arial"/>
                <a:cs typeface="Arial"/>
              </a:rPr>
              <a:t>Metrics</a:t>
            </a:r>
            <a:endParaRPr sz="1300">
              <a:latin typeface="Arial"/>
              <a:cs typeface="Arial"/>
            </a:endParaRPr>
          </a:p>
          <a:p>
            <a:pPr marL="137795" marR="135255">
              <a:lnSpc>
                <a:spcPct val="129000"/>
              </a:lnSpc>
              <a:spcBef>
                <a:spcPts val="320"/>
              </a:spcBef>
            </a:pP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Navigation</a:t>
            </a:r>
            <a:r>
              <a:rPr dirty="0" sz="1000" spc="-4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accuracy,</a:t>
            </a:r>
            <a:r>
              <a:rPr dirty="0" sz="10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user</a:t>
            </a:r>
            <a:r>
              <a:rPr dirty="0" sz="10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satisfaction,</a:t>
            </a:r>
            <a:r>
              <a:rPr dirty="0" sz="10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reduced</a:t>
            </a:r>
            <a:r>
              <a:rPr dirty="0" sz="10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missed</a:t>
            </a:r>
            <a:r>
              <a:rPr dirty="0" sz="10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flights,</a:t>
            </a:r>
            <a:r>
              <a:rPr dirty="0" sz="10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404154"/>
                </a:solidFill>
                <a:latin typeface="Arial"/>
                <a:cs typeface="Arial"/>
              </a:rPr>
              <a:t>and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crowd</a:t>
            </a:r>
            <a:r>
              <a:rPr dirty="0" sz="10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404154"/>
                </a:solidFill>
                <a:latin typeface="Arial"/>
                <a:cs typeface="Arial"/>
              </a:rPr>
              <a:t>prediction.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4627136" y="2407888"/>
            <a:ext cx="4058920" cy="1003300"/>
            <a:chOff x="4627136" y="2407888"/>
            <a:chExt cx="4058920" cy="1003300"/>
          </a:xfrm>
        </p:grpSpPr>
        <p:sp>
          <p:nvSpPr>
            <p:cNvPr id="18" name="object 18" descr=""/>
            <p:cNvSpPr/>
            <p:nvPr/>
          </p:nvSpPr>
          <p:spPr>
            <a:xfrm>
              <a:off x="4634280" y="2415031"/>
              <a:ext cx="4044950" cy="989330"/>
            </a:xfrm>
            <a:custGeom>
              <a:avLst/>
              <a:gdLst/>
              <a:ahLst/>
              <a:cxnLst/>
              <a:rect l="l" t="t" r="r" b="b"/>
              <a:pathLst>
                <a:path w="4044950" h="989329">
                  <a:moveTo>
                    <a:pt x="3988727" y="0"/>
                  </a:moveTo>
                  <a:lnTo>
                    <a:pt x="55824" y="0"/>
                  </a:lnTo>
                  <a:lnTo>
                    <a:pt x="34181" y="4415"/>
                  </a:lnTo>
                  <a:lnTo>
                    <a:pt x="16427" y="16427"/>
                  </a:lnTo>
                  <a:lnTo>
                    <a:pt x="4415" y="34182"/>
                  </a:lnTo>
                  <a:lnTo>
                    <a:pt x="0" y="55829"/>
                  </a:lnTo>
                  <a:lnTo>
                    <a:pt x="0" y="932916"/>
                  </a:lnTo>
                  <a:lnTo>
                    <a:pt x="4415" y="954557"/>
                  </a:lnTo>
                  <a:lnTo>
                    <a:pt x="16427" y="972313"/>
                  </a:lnTo>
                  <a:lnTo>
                    <a:pt x="34181" y="984328"/>
                  </a:lnTo>
                  <a:lnTo>
                    <a:pt x="55824" y="988745"/>
                  </a:lnTo>
                  <a:lnTo>
                    <a:pt x="3988727" y="988745"/>
                  </a:lnTo>
                  <a:lnTo>
                    <a:pt x="4010368" y="984328"/>
                  </a:lnTo>
                  <a:lnTo>
                    <a:pt x="4028124" y="972313"/>
                  </a:lnTo>
                  <a:lnTo>
                    <a:pt x="4040138" y="954557"/>
                  </a:lnTo>
                  <a:lnTo>
                    <a:pt x="4044556" y="932916"/>
                  </a:lnTo>
                  <a:lnTo>
                    <a:pt x="4044556" y="55829"/>
                  </a:lnTo>
                  <a:lnTo>
                    <a:pt x="4040138" y="34182"/>
                  </a:lnTo>
                  <a:lnTo>
                    <a:pt x="4028124" y="16427"/>
                  </a:lnTo>
                  <a:lnTo>
                    <a:pt x="4010368" y="4415"/>
                  </a:lnTo>
                  <a:lnTo>
                    <a:pt x="3988727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634280" y="2415031"/>
              <a:ext cx="4044950" cy="989330"/>
            </a:xfrm>
            <a:custGeom>
              <a:avLst/>
              <a:gdLst/>
              <a:ahLst/>
              <a:cxnLst/>
              <a:rect l="l" t="t" r="r" b="b"/>
              <a:pathLst>
                <a:path w="4044950" h="989329">
                  <a:moveTo>
                    <a:pt x="0" y="55829"/>
                  </a:moveTo>
                  <a:lnTo>
                    <a:pt x="4415" y="34182"/>
                  </a:lnTo>
                  <a:lnTo>
                    <a:pt x="16427" y="16427"/>
                  </a:lnTo>
                  <a:lnTo>
                    <a:pt x="34181" y="4415"/>
                  </a:lnTo>
                  <a:lnTo>
                    <a:pt x="55824" y="0"/>
                  </a:lnTo>
                  <a:lnTo>
                    <a:pt x="3988727" y="0"/>
                  </a:lnTo>
                  <a:lnTo>
                    <a:pt x="4010368" y="4415"/>
                  </a:lnTo>
                  <a:lnTo>
                    <a:pt x="4028124" y="16427"/>
                  </a:lnTo>
                  <a:lnTo>
                    <a:pt x="4040138" y="34182"/>
                  </a:lnTo>
                  <a:lnTo>
                    <a:pt x="4044556" y="55829"/>
                  </a:lnTo>
                  <a:lnTo>
                    <a:pt x="4044556" y="932916"/>
                  </a:lnTo>
                  <a:lnTo>
                    <a:pt x="4040138" y="954557"/>
                  </a:lnTo>
                  <a:lnTo>
                    <a:pt x="4028124" y="972313"/>
                  </a:lnTo>
                  <a:lnTo>
                    <a:pt x="4010368" y="984328"/>
                  </a:lnTo>
                  <a:lnTo>
                    <a:pt x="3988727" y="988745"/>
                  </a:lnTo>
                  <a:lnTo>
                    <a:pt x="55824" y="988745"/>
                  </a:lnTo>
                  <a:lnTo>
                    <a:pt x="34181" y="984328"/>
                  </a:lnTo>
                  <a:lnTo>
                    <a:pt x="16427" y="972313"/>
                  </a:lnTo>
                  <a:lnTo>
                    <a:pt x="4415" y="954557"/>
                  </a:lnTo>
                  <a:lnTo>
                    <a:pt x="0" y="932916"/>
                  </a:lnTo>
                  <a:lnTo>
                    <a:pt x="0" y="55829"/>
                  </a:lnTo>
                  <a:close/>
                </a:path>
              </a:pathLst>
            </a:custGeom>
            <a:ln w="14287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643632" y="2435432"/>
            <a:ext cx="4025900" cy="768350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969"/>
              </a:spcBef>
            </a:pPr>
            <a:r>
              <a:rPr dirty="0" sz="1300">
                <a:solidFill>
                  <a:srgbClr val="404154"/>
                </a:solidFill>
                <a:latin typeface="Arial"/>
                <a:cs typeface="Arial"/>
              </a:rPr>
              <a:t>Future</a:t>
            </a:r>
            <a:r>
              <a:rPr dirty="0" sz="1300" spc="-5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404154"/>
                </a:solidFill>
                <a:latin typeface="Arial"/>
                <a:cs typeface="Arial"/>
              </a:rPr>
              <a:t>Scope</a:t>
            </a:r>
            <a:endParaRPr sz="1300">
              <a:latin typeface="Arial"/>
              <a:cs typeface="Arial"/>
            </a:endParaRPr>
          </a:p>
          <a:p>
            <a:pPr marL="137795" marR="396240">
              <a:lnSpc>
                <a:spcPct val="129000"/>
              </a:lnSpc>
              <a:spcBef>
                <a:spcPts val="320"/>
              </a:spcBef>
            </a:pP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AR</a:t>
            </a:r>
            <a:r>
              <a:rPr dirty="0" sz="10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navigation,</a:t>
            </a:r>
            <a:r>
              <a:rPr dirty="0" sz="10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multilingual</a:t>
            </a:r>
            <a:r>
              <a:rPr dirty="0" sz="10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voice</a:t>
            </a:r>
            <a:r>
              <a:rPr dirty="0" sz="10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assistant,</a:t>
            </a:r>
            <a:r>
              <a:rPr dirty="0" sz="10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smart</a:t>
            </a:r>
            <a:r>
              <a:rPr dirty="0" sz="1000" spc="-3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parking,</a:t>
            </a:r>
            <a:r>
              <a:rPr dirty="0" sz="1000" spc="-3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404154"/>
                </a:solidFill>
                <a:latin typeface="Arial"/>
                <a:cs typeface="Arial"/>
              </a:rPr>
              <a:t>and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predictive</a:t>
            </a:r>
            <a:r>
              <a:rPr dirty="0" sz="1000" spc="-4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404154"/>
                </a:solidFill>
                <a:latin typeface="Arial"/>
                <a:cs typeface="Arial"/>
              </a:rPr>
              <a:t>analytics.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465161" y="3577082"/>
            <a:ext cx="8213725" cy="10160"/>
          </a:xfrm>
          <a:custGeom>
            <a:avLst/>
            <a:gdLst/>
            <a:ahLst/>
            <a:cxnLst/>
            <a:rect l="l" t="t" r="r" b="b"/>
            <a:pathLst>
              <a:path w="8213725" h="10160">
                <a:moveTo>
                  <a:pt x="8213674" y="0"/>
                </a:moveTo>
                <a:lnTo>
                  <a:pt x="0" y="0"/>
                </a:lnTo>
                <a:lnTo>
                  <a:pt x="0" y="9893"/>
                </a:lnTo>
                <a:lnTo>
                  <a:pt x="8213674" y="9893"/>
                </a:lnTo>
                <a:lnTo>
                  <a:pt x="8213674" y="0"/>
                </a:lnTo>
                <a:close/>
              </a:path>
            </a:pathLst>
          </a:custGeom>
          <a:solidFill>
            <a:srgbClr val="404154">
              <a:alpha val="4980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452461" y="3788816"/>
            <a:ext cx="7689215" cy="8966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>
                <a:solidFill>
                  <a:srgbClr val="1B1B27"/>
                </a:solidFill>
                <a:latin typeface="Arial"/>
                <a:cs typeface="Arial"/>
              </a:rPr>
              <a:t>Thank </a:t>
            </a:r>
            <a:r>
              <a:rPr dirty="0" sz="2050" spc="-25">
                <a:solidFill>
                  <a:srgbClr val="1B1B27"/>
                </a:solidFill>
                <a:latin typeface="Arial"/>
                <a:cs typeface="Arial"/>
              </a:rPr>
              <a:t>You</a:t>
            </a:r>
            <a:endParaRPr sz="2050">
              <a:latin typeface="Arial"/>
              <a:cs typeface="Arial"/>
            </a:endParaRPr>
          </a:p>
          <a:p>
            <a:pPr marL="12700" marR="5080">
              <a:lnSpc>
                <a:spcPct val="129000"/>
              </a:lnSpc>
              <a:spcBef>
                <a:spcPts val="1300"/>
              </a:spcBef>
            </a:pP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AeroGuide</a:t>
            </a:r>
            <a:r>
              <a:rPr dirty="0" sz="10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represents</a:t>
            </a:r>
            <a:r>
              <a:rPr dirty="0" sz="10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the</a:t>
            </a:r>
            <a:r>
              <a:rPr dirty="0" sz="10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next</a:t>
            </a:r>
            <a:r>
              <a:rPr dirty="0" sz="10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generation</a:t>
            </a:r>
            <a:r>
              <a:rPr dirty="0" sz="10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of</a:t>
            </a:r>
            <a:r>
              <a:rPr dirty="0" sz="10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intelligent</a:t>
            </a:r>
            <a:r>
              <a:rPr dirty="0" sz="10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airport</a:t>
            </a:r>
            <a:r>
              <a:rPr dirty="0" sz="10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assistance</a:t>
            </a:r>
            <a:r>
              <a:rPr dirty="0" sz="10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—</a:t>
            </a:r>
            <a:r>
              <a:rPr dirty="0" sz="10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enhancing</a:t>
            </a:r>
            <a:r>
              <a:rPr dirty="0" sz="10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passenger</a:t>
            </a:r>
            <a:r>
              <a:rPr dirty="0" sz="10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convenience</a:t>
            </a:r>
            <a:r>
              <a:rPr dirty="0" sz="10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while</a:t>
            </a:r>
            <a:r>
              <a:rPr dirty="0" sz="1000" spc="-20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04154"/>
                </a:solidFill>
                <a:latin typeface="Arial"/>
                <a:cs typeface="Arial"/>
              </a:rPr>
              <a:t>driving</a:t>
            </a:r>
            <a:r>
              <a:rPr dirty="0" sz="1000" spc="-25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404154"/>
                </a:solidFill>
                <a:latin typeface="Arial"/>
                <a:cs typeface="Arial"/>
              </a:rPr>
              <a:t>operational efficiency.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2026-06-05T07:03:27Z</dcterms:created>
  <dcterms:modified xsi:type="dcterms:W3CDTF">2026-06-05T07:03:27Z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2026-06-05T00:00:00Z</vt:filetime>
  </property>
  <property fmtid="{D5CDD505-2E9C-101B-9397-08002B2CF9AE}" pid="3" name="LastSaved">
    <vt:filetime>2026-06-05T00:00:00Z</vt:filetime>
  </property>
  <property fmtid="{D5CDD505-2E9C-101B-9397-08002B2CF9AE}" pid="4" name="Producer">
    <vt:lpwstr>3-Heights(TM) PDF Security Shell 4.8.25.2 (http://www.pdf-tools.com)</vt:lpwstr>
  </property>
</Properties>
</file>